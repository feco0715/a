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reports.weforum.org/docs/WEF_Global_Cybersecurity_Outlook_2025.pdf?utm_source=chatgpt.com" TargetMode="External"/><Relationship Id="rId3" Type="http://schemas.openxmlformats.org/officeDocument/2006/relationships/hyperlink" Target="https://www.cyber.gov.au/about-us/view-all-content/reports-and-statistics/annual-cyber-threat-report-2024-2025?utm_source=chatgpt.com" TargetMode="External"/><Relationship Id="rId7" Type="http://schemas.openxmlformats.org/officeDocument/2006/relationships/hyperlink" Target="https://www.techradar.com/pro/security/living-on-the-ai-edge-60-percent-of-it-and-security-pros-are-considering-leaving-their-jobs-because-of-rising-cyber-threats-with-many-feeling-hopeless-and-overwhelmed?utm_source=chatgpt.com" TargetMode="External"/><Relationship Id="rId2" Type="http://schemas.openxmlformats.org/officeDocument/2006/relationships/hyperlink" Target="https://www.itpro.com/security/rocketing-number-of-ransomware-groups-as-new-smaller-players-emerge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apid7.com/blog/post/q2-2025-ransomware-trends-analysis-boom-and-bust/?utm_source=chatgpt.com" TargetMode="External"/><Relationship Id="rId5" Type="http://schemas.openxmlformats.org/officeDocument/2006/relationships/hyperlink" Target="https://www.sonatype.com/state-of-the-software-supply-chain/2024/10-year-look?utm_source=chatgpt.com" TargetMode="External"/><Relationship Id="rId4" Type="http://schemas.openxmlformats.org/officeDocument/2006/relationships/hyperlink" Target="https://www.ncsc.gov.uk/report/impact-ai-cyber-threat-now-2027?utm_source=chatgpt.com" TargetMode="External"/><Relationship Id="rId9" Type="http://schemas.openxmlformats.org/officeDocument/2006/relationships/hyperlink" Target="https://www.crowdstrike.com/en-us/global-threat-report/?utm_source=chatgpt.co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tpro.com/security/rocketing-number-of-ransomware-groups-as-new-smaller-players-emerge?utm_source=chatgpt.com" TargetMode="External"/><Relationship Id="rId2" Type="http://schemas.openxmlformats.org/officeDocument/2006/relationships/hyperlink" Target="https://www.rapid7.com/blog/post/q2-2025-ransomware-trends-analysis-boom-and-bust/?utm_source=chatgpt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onatype.com/state-of-the-software-supply-chain/2024/10-year-look?utm_source=chatgpt.com" TargetMode="External"/><Relationship Id="rId4" Type="http://schemas.openxmlformats.org/officeDocument/2006/relationships/hyperlink" Target="https://www.crowdstrike.com/en-us/global-threat-report/?utm_source=chatgpt.com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FF646F4-92A7-4D4D-AFE3-7FA704A5B9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dirty="0" err="1"/>
              <a:t>Kiberbiztonság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CACCE6B-2AD6-4E54-8886-B34339AC2A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BF</a:t>
            </a:r>
          </a:p>
        </p:txBody>
      </p:sp>
    </p:spTree>
    <p:extLst>
      <p:ext uri="{BB962C8B-B14F-4D97-AF65-F5344CB8AC3E}">
        <p14:creationId xmlns:p14="http://schemas.microsoft.com/office/powerpoint/2010/main" val="1433071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B7565107-094D-42D9-A727-339FE7AEC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70292"/>
            <a:ext cx="10566400" cy="6597775"/>
          </a:xfrm>
        </p:spPr>
        <p:txBody>
          <a:bodyPr>
            <a:normAutofit fontScale="70000" lnSpcReduction="20000"/>
          </a:bodyPr>
          <a:lstStyle/>
          <a:p>
            <a:r>
              <a:rPr lang="hu-HU" b="1" dirty="0" err="1"/>
              <a:t>Kiberbiztonság</a:t>
            </a:r>
            <a:r>
              <a:rPr lang="hu-HU" b="1" dirty="0"/>
              <a:t> — aktuális helyzet (összefoglaló)</a:t>
            </a:r>
          </a:p>
          <a:p>
            <a:r>
              <a:rPr lang="hu-HU" b="1" dirty="0" err="1"/>
              <a:t>Ransomware</a:t>
            </a:r>
            <a:r>
              <a:rPr lang="hu-HU" b="1" dirty="0"/>
              <a:t> és zsarolóprogramok továbbra is vezető üzleti kockázat.</a:t>
            </a:r>
            <a:r>
              <a:rPr lang="hu-HU" dirty="0"/>
              <a:t> Sok iparágban (különösen pénzügy, gyártás és technológia) a zsarolóprogramok okozzák az egyik legnagyobb kárt és működési kiesést; az aktív zsaroló-csoportok száma és változatossága 2024–2025-ben nőtt. </a:t>
            </a:r>
            <a:r>
              <a:rPr lang="hu-HU" dirty="0">
                <a:hlinkClick r:id="rId2"/>
              </a:rPr>
              <a:t>IT Pro+1</a:t>
            </a:r>
            <a:endParaRPr lang="hu-HU" dirty="0"/>
          </a:p>
          <a:p>
            <a:r>
              <a:rPr lang="hu-HU" b="1" dirty="0"/>
              <a:t>Állami támogatású (</a:t>
            </a:r>
            <a:r>
              <a:rPr lang="hu-HU" b="1" dirty="0" err="1"/>
              <a:t>state-sponsored</a:t>
            </a:r>
            <a:r>
              <a:rPr lang="hu-HU" b="1" dirty="0"/>
              <a:t>) és geopolitikai támadások erősödnek.</a:t>
            </a:r>
            <a:r>
              <a:rPr lang="hu-HU" dirty="0"/>
              <a:t> A nemzetállami szereplők kifinomultabbak, céljuk lehet hírszerzés, kritikus infrastruktúra zavarása vagy politikai befolyásolás. Sok ország </a:t>
            </a:r>
            <a:r>
              <a:rPr lang="hu-HU" dirty="0" err="1"/>
              <a:t>kiber-kibervédelmi</a:t>
            </a:r>
            <a:r>
              <a:rPr lang="hu-HU" dirty="0"/>
              <a:t> szervezete erre figyelmeztet. </a:t>
            </a:r>
            <a:r>
              <a:rPr lang="hu-HU" dirty="0">
                <a:hlinkClick r:id="rId3"/>
              </a:rPr>
              <a:t>cyber.gov.au+1</a:t>
            </a:r>
            <a:endParaRPr lang="hu-HU" dirty="0"/>
          </a:p>
          <a:p>
            <a:r>
              <a:rPr lang="hu-HU" b="1" dirty="0"/>
              <a:t>AI kettős használata — védekezést is segíti, de a támadók is kihasználják.</a:t>
            </a:r>
            <a:r>
              <a:rPr lang="hu-HU" dirty="0"/>
              <a:t> Az AI/ML eszközök segítik a biztonsági automatizálást és anomália-észlelést, ugyanakkor a támadók is alkalmaznak AI-t </a:t>
            </a:r>
            <a:r>
              <a:rPr lang="hu-HU" dirty="0" err="1"/>
              <a:t>célzottabb</a:t>
            </a:r>
            <a:r>
              <a:rPr lang="hu-HU" dirty="0"/>
              <a:t> adathalászatra, </a:t>
            </a:r>
            <a:r>
              <a:rPr lang="hu-HU" dirty="0" err="1"/>
              <a:t>social</a:t>
            </a:r>
            <a:r>
              <a:rPr lang="hu-HU" dirty="0"/>
              <a:t> </a:t>
            </a:r>
            <a:r>
              <a:rPr lang="hu-HU" dirty="0" err="1"/>
              <a:t>engineeringre</a:t>
            </a:r>
            <a:r>
              <a:rPr lang="hu-HU" dirty="0"/>
              <a:t> és kódgenerálásra. A biztonsági szervezetek 2024–2025-ös jelentései ezt kiemelik. </a:t>
            </a:r>
            <a:r>
              <a:rPr lang="hu-HU" dirty="0">
                <a:hlinkClick r:id="rId4"/>
              </a:rPr>
              <a:t>ncsc.gov.uk+1</a:t>
            </a:r>
            <a:endParaRPr lang="hu-HU" dirty="0"/>
          </a:p>
          <a:p>
            <a:r>
              <a:rPr lang="hu-HU" b="1" dirty="0"/>
              <a:t>Szoftver-ellátási lánc (software </a:t>
            </a:r>
            <a:r>
              <a:rPr lang="hu-HU" b="1" dirty="0" err="1"/>
              <a:t>supply</a:t>
            </a:r>
            <a:r>
              <a:rPr lang="hu-HU" b="1" dirty="0"/>
              <a:t> </a:t>
            </a:r>
            <a:r>
              <a:rPr lang="hu-HU" b="1" dirty="0" err="1"/>
              <a:t>chain</a:t>
            </a:r>
            <a:r>
              <a:rPr lang="hu-HU" b="1" dirty="0"/>
              <a:t>) kockázatok növekedése.</a:t>
            </a:r>
            <a:r>
              <a:rPr lang="hu-HU" dirty="0"/>
              <a:t> Harmadik felek és nyílt forráskódú komponensek kompromittálása sok </a:t>
            </a:r>
            <a:r>
              <a:rPr lang="hu-HU" dirty="0" err="1"/>
              <a:t>szervezetot</a:t>
            </a:r>
            <a:r>
              <a:rPr lang="hu-HU" dirty="0"/>
              <a:t> érint; az ellátási lánc támadások komoly következményekkel járhatnak. </a:t>
            </a:r>
            <a:r>
              <a:rPr lang="hu-HU" dirty="0">
                <a:hlinkClick r:id="rId5"/>
              </a:rPr>
              <a:t>sonatype.com+1</a:t>
            </a:r>
            <a:endParaRPr lang="hu-HU" dirty="0"/>
          </a:p>
          <a:p>
            <a:r>
              <a:rPr lang="hu-HU" b="1" dirty="0"/>
              <a:t>Társadalmi mérnökség és emberi tényező marad a gyenge láncszem.</a:t>
            </a:r>
            <a:r>
              <a:rPr lang="hu-HU" dirty="0"/>
              <a:t> Adathalászat, CEO-</a:t>
            </a:r>
            <a:r>
              <a:rPr lang="hu-HU" dirty="0" err="1"/>
              <a:t>fraud</a:t>
            </a:r>
            <a:r>
              <a:rPr lang="hu-HU" dirty="0"/>
              <a:t>, hamis telepítések és „account </a:t>
            </a:r>
            <a:r>
              <a:rPr lang="hu-HU" dirty="0" err="1"/>
              <a:t>takeover</a:t>
            </a:r>
            <a:r>
              <a:rPr lang="hu-HU" dirty="0"/>
              <a:t>” támadások aránya magas; ezért a humán védelem (képzés, folyamatok) kritikus. </a:t>
            </a:r>
            <a:r>
              <a:rPr lang="hu-HU" dirty="0">
                <a:hlinkClick r:id="rId6"/>
              </a:rPr>
              <a:t>Rapid7+1</a:t>
            </a:r>
            <a:endParaRPr lang="hu-HU" dirty="0"/>
          </a:p>
          <a:p>
            <a:r>
              <a:rPr lang="hu-HU" b="1" dirty="0"/>
              <a:t>Munkaerőhiány és szakértői kiégés (</a:t>
            </a:r>
            <a:r>
              <a:rPr lang="hu-HU" b="1" dirty="0" err="1"/>
              <a:t>burnout</a:t>
            </a:r>
            <a:r>
              <a:rPr lang="hu-HU" b="1" dirty="0"/>
              <a:t>) problémát okoz.</a:t>
            </a:r>
            <a:r>
              <a:rPr lang="hu-HU" dirty="0"/>
              <a:t> Biztonsági dolgozók körében magas a stressz és a fluktuáció, ami működési kockázatot növel; ez rontja az észlelés-válasz képességet. </a:t>
            </a:r>
            <a:r>
              <a:rPr lang="hu-HU" dirty="0" err="1">
                <a:hlinkClick r:id="rId7"/>
              </a:rPr>
              <a:t>TechRadar</a:t>
            </a:r>
            <a:endParaRPr lang="hu-HU" dirty="0"/>
          </a:p>
          <a:p>
            <a:r>
              <a:rPr lang="hu-HU" b="1" dirty="0"/>
              <a:t>Gyors gyakorlati tennivalók (vezetőknek és IT-csapatoknak):</a:t>
            </a:r>
            <a:endParaRPr lang="hu-HU" dirty="0"/>
          </a:p>
          <a:p>
            <a:r>
              <a:rPr lang="hu-HU" dirty="0"/>
              <a:t>alapvető biztonsági alapok (patching, multi-</a:t>
            </a:r>
            <a:r>
              <a:rPr lang="hu-HU" dirty="0" err="1"/>
              <a:t>factor</a:t>
            </a:r>
            <a:r>
              <a:rPr lang="hu-HU" dirty="0"/>
              <a:t> </a:t>
            </a:r>
            <a:r>
              <a:rPr lang="hu-HU" dirty="0" err="1"/>
              <a:t>authentication</a:t>
            </a:r>
            <a:r>
              <a:rPr lang="hu-HU" dirty="0"/>
              <a:t>, backup 3-2-1 elv) szigorú betartása; </a:t>
            </a:r>
            <a:r>
              <a:rPr lang="hu-HU" dirty="0">
                <a:hlinkClick r:id="rId8"/>
              </a:rPr>
              <a:t>reports.weforum.org</a:t>
            </a:r>
            <a:endParaRPr lang="hu-HU" dirty="0"/>
          </a:p>
          <a:p>
            <a:r>
              <a:rPr lang="hu-HU" dirty="0"/>
              <a:t>tervezzetek és gyakoroljatok incidenskezelést (</a:t>
            </a:r>
            <a:r>
              <a:rPr lang="hu-HU" dirty="0" err="1"/>
              <a:t>playbook</a:t>
            </a:r>
            <a:r>
              <a:rPr lang="hu-HU" dirty="0"/>
              <a:t> + rendszeres asztali gyakorlatok); </a:t>
            </a:r>
            <a:r>
              <a:rPr lang="hu-HU" dirty="0">
                <a:hlinkClick r:id="rId3"/>
              </a:rPr>
              <a:t>cyber.gov.au</a:t>
            </a:r>
            <a:endParaRPr lang="hu-HU" dirty="0"/>
          </a:p>
          <a:p>
            <a:r>
              <a:rPr lang="hu-HU" dirty="0"/>
              <a:t>monitorozás + EDR/XDR + </a:t>
            </a:r>
            <a:r>
              <a:rPr lang="hu-HU" dirty="0" err="1"/>
              <a:t>threat</a:t>
            </a:r>
            <a:r>
              <a:rPr lang="hu-HU" dirty="0"/>
              <a:t> </a:t>
            </a:r>
            <a:r>
              <a:rPr lang="hu-HU" dirty="0" err="1"/>
              <a:t>intelligence</a:t>
            </a:r>
            <a:r>
              <a:rPr lang="hu-HU" dirty="0"/>
              <a:t> integráció; </a:t>
            </a:r>
            <a:r>
              <a:rPr lang="hu-HU" dirty="0">
                <a:hlinkClick r:id="rId9"/>
              </a:rPr>
              <a:t>crowdstrike.com</a:t>
            </a:r>
            <a:endParaRPr lang="hu-HU" dirty="0"/>
          </a:p>
          <a:p>
            <a:r>
              <a:rPr lang="hu-HU" dirty="0"/>
              <a:t>beszállítói/alkalmazás-ellátási lánc kockázatkezelés (összetevő-vizsgálat, SBOM használata); </a:t>
            </a:r>
            <a:r>
              <a:rPr lang="hu-HU" dirty="0">
                <a:hlinkClick r:id="rId5"/>
              </a:rPr>
              <a:t>sonatype.com</a:t>
            </a:r>
            <a:endParaRPr lang="hu-HU" dirty="0"/>
          </a:p>
          <a:p>
            <a:r>
              <a:rPr lang="hu-HU" dirty="0"/>
              <a:t>munkavállalói tudatosság és a szakmai állomány megtartása (</a:t>
            </a:r>
            <a:r>
              <a:rPr lang="hu-HU" dirty="0" err="1"/>
              <a:t>burnout</a:t>
            </a:r>
            <a:r>
              <a:rPr lang="hu-HU" dirty="0"/>
              <a:t> elleni intézkedések).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21455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17BB2E0-9605-4A6A-8DA8-191DC73B3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66BFC59-94E3-4561-845E-F23768629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u-HU" b="1" dirty="0"/>
              <a:t>Mi a „hacker”?</a:t>
            </a:r>
          </a:p>
          <a:p>
            <a:r>
              <a:rPr lang="hu-HU" dirty="0"/>
              <a:t>„Hacker” tág fogalom: olyan személy vagy csoport, aki informatikai rendszereket, </a:t>
            </a:r>
            <a:r>
              <a:rPr lang="hu-HU" dirty="0" err="1"/>
              <a:t>hálózatokat</a:t>
            </a:r>
            <a:r>
              <a:rPr lang="hu-HU" dirty="0"/>
              <a:t> vagy szoftvereket keres meg, feltár sebezhetőségeket, vagy kihasználja azokat. A motiváció és a módszer alapján különböző kategóriákra bontható. (Definíciók és kategóriák általános összefoglalói: </a:t>
            </a:r>
            <a:r>
              <a:rPr lang="hu-HU" dirty="0" err="1"/>
              <a:t>kiber</a:t>
            </a:r>
            <a:r>
              <a:rPr lang="hu-HU" dirty="0"/>
              <a:t>-biztonsági szakirodalom.)</a:t>
            </a:r>
          </a:p>
          <a:p>
            <a:r>
              <a:rPr lang="hu-HU" b="1" dirty="0"/>
              <a:t>Gyakori támadási módszerek és eszközök</a:t>
            </a:r>
          </a:p>
          <a:p>
            <a:r>
              <a:rPr lang="hu-HU" b="1" dirty="0"/>
              <a:t>Adathalászat (</a:t>
            </a:r>
            <a:r>
              <a:rPr lang="hu-HU" b="1" dirty="0" err="1"/>
              <a:t>phishing</a:t>
            </a:r>
            <a:r>
              <a:rPr lang="hu-HU" b="1" dirty="0"/>
              <a:t> / </a:t>
            </a:r>
            <a:r>
              <a:rPr lang="hu-HU" b="1" dirty="0" err="1"/>
              <a:t>spear-phishing</a:t>
            </a:r>
            <a:r>
              <a:rPr lang="hu-HU" b="1" dirty="0"/>
              <a:t>)</a:t>
            </a:r>
            <a:r>
              <a:rPr lang="hu-HU" dirty="0"/>
              <a:t> — e-mail vagy üzenet, célzott linkek/mellékletek. </a:t>
            </a:r>
            <a:r>
              <a:rPr lang="hu-HU" dirty="0">
                <a:hlinkClick r:id="rId2"/>
              </a:rPr>
              <a:t>Rapid7</a:t>
            </a:r>
            <a:endParaRPr lang="hu-HU" dirty="0"/>
          </a:p>
          <a:p>
            <a:r>
              <a:rPr lang="hu-HU" b="1" dirty="0" err="1"/>
              <a:t>Ransomware</a:t>
            </a:r>
            <a:r>
              <a:rPr lang="hu-HU" dirty="0"/>
              <a:t> — titkosítás + váltságdíj követelése. </a:t>
            </a:r>
            <a:r>
              <a:rPr lang="hu-HU" dirty="0">
                <a:hlinkClick r:id="rId3"/>
              </a:rPr>
              <a:t>IT Pro</a:t>
            </a:r>
            <a:endParaRPr lang="hu-HU" dirty="0"/>
          </a:p>
          <a:p>
            <a:r>
              <a:rPr lang="hu-HU" b="1" dirty="0" err="1"/>
              <a:t>Exploits</a:t>
            </a:r>
            <a:r>
              <a:rPr lang="hu-HU" b="1" dirty="0"/>
              <a:t> / </a:t>
            </a:r>
            <a:r>
              <a:rPr lang="hu-HU" b="1" dirty="0" err="1"/>
              <a:t>zero-day</a:t>
            </a:r>
            <a:r>
              <a:rPr lang="hu-HU" dirty="0"/>
              <a:t> — ismeretlen hibák kihasználása. </a:t>
            </a:r>
            <a:r>
              <a:rPr lang="hu-HU" dirty="0">
                <a:hlinkClick r:id="rId4"/>
              </a:rPr>
              <a:t>crowdstrike.com</a:t>
            </a:r>
            <a:endParaRPr lang="hu-HU" dirty="0"/>
          </a:p>
          <a:p>
            <a:r>
              <a:rPr lang="hu-HU" b="1" dirty="0" err="1"/>
              <a:t>Initial</a:t>
            </a:r>
            <a:r>
              <a:rPr lang="hu-HU" b="1" dirty="0"/>
              <a:t> Access </a:t>
            </a:r>
            <a:r>
              <a:rPr lang="hu-HU" b="1" dirty="0" err="1"/>
              <a:t>Brokers</a:t>
            </a:r>
            <a:r>
              <a:rPr lang="hu-HU" b="1" dirty="0"/>
              <a:t> (</a:t>
            </a:r>
            <a:r>
              <a:rPr lang="hu-HU" b="1" dirty="0" err="1"/>
              <a:t>IABs</a:t>
            </a:r>
            <a:r>
              <a:rPr lang="hu-HU" b="1" dirty="0"/>
              <a:t>)</a:t>
            </a:r>
            <a:r>
              <a:rPr lang="hu-HU" dirty="0"/>
              <a:t> — hozzáféréseket árusítanak a bűnözői piacon. </a:t>
            </a:r>
            <a:r>
              <a:rPr lang="hu-HU" dirty="0">
                <a:hlinkClick r:id="rId2"/>
              </a:rPr>
              <a:t>Rapid7</a:t>
            </a:r>
            <a:endParaRPr lang="hu-HU" dirty="0"/>
          </a:p>
          <a:p>
            <a:r>
              <a:rPr lang="hu-HU" b="1" dirty="0" err="1"/>
              <a:t>Supply-chain</a:t>
            </a:r>
            <a:r>
              <a:rPr lang="hu-HU" b="1" dirty="0"/>
              <a:t> kompromittálás</a:t>
            </a:r>
            <a:r>
              <a:rPr lang="hu-HU" dirty="0"/>
              <a:t> — harmadik fél vagy komponens fertőzése. </a:t>
            </a:r>
            <a:r>
              <a:rPr lang="hu-HU" dirty="0">
                <a:hlinkClick r:id="rId5"/>
              </a:rPr>
              <a:t>sonatype.com</a:t>
            </a:r>
            <a:endParaRPr lang="hu-HU" dirty="0"/>
          </a:p>
          <a:p>
            <a:r>
              <a:rPr lang="hu-HU" b="1" dirty="0"/>
              <a:t>Automatizált botnetek, C2 infrastruktúra, </a:t>
            </a:r>
            <a:r>
              <a:rPr lang="hu-HU" b="1" dirty="0" err="1"/>
              <a:t>malware-toolkit</a:t>
            </a:r>
            <a:r>
              <a:rPr lang="hu-HU" dirty="0"/>
              <a:t> — széles körben használt eszközök.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52468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BBA144-CF7A-41D2-839F-402D34A36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B06E424-BF2A-45D0-80BC-BD11867DA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Rövid összefoglaló, záró gondolat</a:t>
            </a:r>
          </a:p>
          <a:p>
            <a:r>
              <a:rPr lang="hu-HU" dirty="0"/>
              <a:t>A fenyegetési kép gyorsan változik: a </a:t>
            </a:r>
            <a:r>
              <a:rPr lang="hu-HU" b="1" dirty="0"/>
              <a:t>zsarolóprogramok</a:t>
            </a:r>
            <a:r>
              <a:rPr lang="hu-HU" dirty="0"/>
              <a:t>, a </a:t>
            </a:r>
            <a:r>
              <a:rPr lang="hu-HU" b="1" dirty="0"/>
              <a:t>szoftver-ellátási lánc</a:t>
            </a:r>
            <a:r>
              <a:rPr lang="hu-HU" dirty="0"/>
              <a:t> és az </a:t>
            </a:r>
            <a:r>
              <a:rPr lang="hu-HU" b="1" dirty="0"/>
              <a:t>AI-t használó taktikák</a:t>
            </a:r>
            <a:r>
              <a:rPr lang="hu-HU" dirty="0"/>
              <a:t> dominálnak 2024–2025 körül, miközben a humán tényező és a szakemberhiány tovább növeli a kockázatot. A védelem mixe technikai kontrollokból, folyamatokból és emberi képzésből áll — és a vezetés aktív részvétele nélkül a beruházások hatékonysága korlátozott marad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37415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360343F-FCA3-42BC-A53A-70CDC4416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777" y="3238252"/>
            <a:ext cx="9404723" cy="1400530"/>
          </a:xfrm>
        </p:spPr>
        <p:txBody>
          <a:bodyPr/>
          <a:lstStyle/>
          <a:p>
            <a:r>
              <a:rPr lang="hu-HU" dirty="0"/>
              <a:t>Köszönöm a figyelmet</a:t>
            </a:r>
          </a:p>
        </p:txBody>
      </p:sp>
    </p:spTree>
    <p:extLst>
      <p:ext uri="{BB962C8B-B14F-4D97-AF65-F5344CB8AC3E}">
        <p14:creationId xmlns:p14="http://schemas.microsoft.com/office/powerpoint/2010/main" val="33541628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532</Words>
  <Application>Microsoft Office PowerPoint</Application>
  <PresentationFormat>Szélesvásznú</PresentationFormat>
  <Paragraphs>27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</vt:lpstr>
      <vt:lpstr>Kiberbiztonság</vt:lpstr>
      <vt:lpstr>PowerPoint-bemutató</vt:lpstr>
      <vt:lpstr>PowerPoint-bemutató</vt:lpstr>
      <vt:lpstr>PowerPoint-bemutató</vt:lpstr>
      <vt:lpstr>Köszönöm a figyelmet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Kiberbiztonság</dc:title>
  <dc:creator>Fb Fb</dc:creator>
  <cp:lastModifiedBy>Fb Fb</cp:lastModifiedBy>
  <cp:revision>1</cp:revision>
  <dcterms:created xsi:type="dcterms:W3CDTF">2025-10-15T18:08:03Z</dcterms:created>
  <dcterms:modified xsi:type="dcterms:W3CDTF">2025-10-15T18:10:25Z</dcterms:modified>
</cp:coreProperties>
</file>