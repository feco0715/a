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701FFF-0335-495B-A597-4B948CED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1B6C05F-7B22-4D0F-B7A2-52325E2C6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6B77FC-0755-4A0D-8089-C9A4CABF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0D5C03E-3D5D-42D6-B133-3544EEF0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1542F26-F18E-404A-8F82-C64528AC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632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BCB304-FB0A-456A-88BE-1F425B52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594AFF-074E-45C7-A8F5-9E5A63E3D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FF470C-95D4-40E7-BA98-9F8E23B8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C696A1-A938-4790-8D86-CD38E7A3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581393-81AC-4F63-9BE1-C348C25E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830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42E7EC-2CF3-4456-B03E-00D9DE1E2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1F2D69F-4F01-4D6D-A7E5-FE06B3336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79D4D9-F49F-4590-9717-12403291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F7C8258-AA46-47E2-BD1C-547DB7A3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5CA17DE-FBCD-4DEE-8B55-C8107A11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449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03BB46-31A8-47CF-B376-C022D5D4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DBAA12-D005-4CAD-ABFE-6BCE86EC9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EE1C9FE-448C-4937-9907-97EAD657C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DA15EA7-9051-4C31-8A85-B5619AA4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27A8A52-5EE7-40DA-830F-B9FDA8D9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E014BBB-3497-4AD1-94FB-3CE6EE3D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533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2CC272-5BA6-4500-BFBE-668D8612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346EB10-1FCD-41DA-88B0-E6CC4C87B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861ACE2-A49B-4AB4-974C-287EB6FCD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1ED4B32-66DF-49DE-9571-D0D1D48AA4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57EB84E-2CF0-4D4B-8CD9-8041E04EE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623131E-D6B1-41F2-86E1-8539F802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E955833-A59F-40ED-B3A6-708E1F107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8194D98-9609-43CF-A5E4-CD58855B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095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7F9FBB-B85C-4B1B-9335-E4585F8B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5769A82-C4BC-4E3A-BD9C-AED9F8953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A4B9F54-49E7-4B28-9A1A-CEB86A502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05FD28C-1CB7-4A5F-BDB3-29C839B9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383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93DD0BD-5123-43DB-904C-7EAFDE17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5970795-AA90-44F1-9CBC-E90D6C1B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B27FC5D-B09A-4B5D-BFAB-F0BF73A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683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3223EE-3F44-42A2-835F-093B293D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177074-96A3-4933-8D51-4758BC7D2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F4D53A1-E631-4DBB-93F2-2B6DC0613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5785DB5-5B82-48A2-87AC-8A455D2B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145E906-2AA9-4183-89A8-E9BCC260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F512F98-721C-4565-8024-221D6EFF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940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75C1C-8BF4-41F0-AA04-2C1A98C0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2FA5242-F86E-43EE-B729-B8ACB511B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40D2231-2E06-4FBF-9567-11DCF4C17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22CC3B2-2BA2-48B3-A95B-475F28416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9AB2C1-4F92-4E95-8621-4937D679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2EB56D6-681C-44BE-A3CD-3927C87B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962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750697-6AEF-4F86-9521-CBDBEE20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5CA5CC8-6E91-4F63-A9CF-0A63DA96F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E15067D-9571-4F3E-963E-B41DCBA0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2D58585-49C3-4B75-960D-F494843A3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5D5947E-77E1-496B-A3C8-9C8A1DBD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620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2F03B20-199D-40DC-8232-4A7A47FAB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4FEBC63-74E1-4589-A851-5FC30E733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4287DA-B0DC-44AD-95EE-78A9CA4C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034F36-B0AD-4F03-9FE4-A990524D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D828FCC-1354-4AB8-8FD2-E9559BD1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811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8D1F56A-3D0B-48D6-8377-409409BE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AD0FDA9-AC49-4F67-9F4F-860DE070C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5183CB-9B16-4B30-B306-E3AFC165C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ACA98-491C-4D28-A9F6-9E725D800CF7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54C959-3A12-4A43-85AF-4936599DB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C512D1-52E4-4A8C-B817-52893A7A9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2EAB4-75A1-4C5D-A154-AFF55EB8C9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513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Elektromos autó: Több mint 282 ezer jogdíjmentes, licencelhető  stockillusztráció és -rajz | Shutterstock">
            <a:extLst>
              <a:ext uri="{FF2B5EF4-FFF2-40B4-BE49-F238E27FC236}">
                <a16:creationId xmlns:a16="http://schemas.microsoft.com/office/drawing/2014/main" id="{565B1D5C-00D4-4D61-AC3F-25A92A201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998"/>
          <a:stretch/>
        </p:blipFill>
        <p:spPr bwMode="auto">
          <a:xfrm>
            <a:off x="2181138" y="1122363"/>
            <a:ext cx="7697598" cy="366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BB922CF-1B88-4438-8BC7-F73011439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Önvezető autók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A2831BA-C922-4D8C-9068-7DC4841C56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Borsos Ferenc</a:t>
            </a:r>
          </a:p>
        </p:txBody>
      </p:sp>
    </p:spTree>
    <p:extLst>
      <p:ext uri="{BB962C8B-B14F-4D97-AF65-F5344CB8AC3E}">
        <p14:creationId xmlns:p14="http://schemas.microsoft.com/office/powerpoint/2010/main" val="194080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95D9FC-CDFF-41EE-9BE9-FE1EEEA0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Forte" panose="03060902040502070203" pitchFamily="66" charset="0"/>
              </a:rPr>
              <a:t>Önvezető autók (autonóm járművek)</a:t>
            </a:r>
            <a:br>
              <a:rPr lang="hu-HU" dirty="0">
                <a:latin typeface="Forte" panose="03060902040502070203" pitchFamily="66" charset="0"/>
              </a:rPr>
            </a:br>
            <a:endParaRPr lang="hu-HU" dirty="0">
              <a:latin typeface="Forte" panose="03060902040502070203" pitchFamily="66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C6A069-1579-4524-BD63-E63F3344E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39" y="2064915"/>
            <a:ext cx="5668861" cy="4351338"/>
          </a:xfrm>
        </p:spPr>
        <p:txBody>
          <a:bodyPr>
            <a:normAutofit/>
          </a:bodyPr>
          <a:lstStyle/>
          <a:p>
            <a:r>
              <a:rPr lang="hu-HU" dirty="0"/>
              <a:t>Olyan járművek, amelyek emberi beavatkozás nélkül képesek közlekedni</a:t>
            </a:r>
          </a:p>
          <a:p>
            <a:r>
              <a:rPr lang="hu-HU" dirty="0"/>
              <a:t>Szenzorokkal, kamerákkal és mesterséges intelligenciával működnek</a:t>
            </a:r>
          </a:p>
          <a:p>
            <a:r>
              <a:rPr lang="hu-HU" dirty="0"/>
              <a:t>Cél: biztonságosabb és hatékonyabb közlekedés</a:t>
            </a:r>
          </a:p>
          <a:p>
            <a:r>
              <a:rPr lang="hu-HU" dirty="0"/>
              <a:t>Fejlesztésben élen jár: Tesla, </a:t>
            </a:r>
            <a:r>
              <a:rPr lang="hu-HU" dirty="0" err="1"/>
              <a:t>Waymo</a:t>
            </a:r>
            <a:r>
              <a:rPr lang="hu-HU" dirty="0"/>
              <a:t>, Mercedes‑Benz</a:t>
            </a:r>
          </a:p>
          <a:p>
            <a:endParaRPr lang="hu-HU" dirty="0"/>
          </a:p>
        </p:txBody>
      </p:sp>
      <p:pic>
        <p:nvPicPr>
          <p:cNvPr id="1026" name="Picture 2" descr="NEMZETI KÖZSZOLGÁLATI EGYETEM">
            <a:extLst>
              <a:ext uri="{FF2B5EF4-FFF2-40B4-BE49-F238E27FC236}">
                <a16:creationId xmlns:a16="http://schemas.microsoft.com/office/drawing/2014/main" id="{E83156F4-F835-445E-98FD-1EBFEB4D4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525" y="2411682"/>
            <a:ext cx="5486706" cy="36578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308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AC8FD5-56BD-4551-A778-070856781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Az autonómia szintjei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090079-F94D-47DC-9DCE-F93B4EC9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hu-HU" dirty="0"/>
              <a:t>Az autonóm járműveknek </a:t>
            </a:r>
            <a:r>
              <a:rPr lang="hu-HU" b="1" dirty="0"/>
              <a:t>6 szintje van</a:t>
            </a:r>
            <a:r>
              <a:rPr lang="hu-HU" dirty="0"/>
              <a:t> (SAE rendszer):</a:t>
            </a:r>
          </a:p>
          <a:p>
            <a:r>
              <a:rPr lang="hu-HU" dirty="0"/>
              <a:t>Nincs automatizálás</a:t>
            </a:r>
          </a:p>
          <a:p>
            <a:r>
              <a:rPr lang="hu-HU" dirty="0"/>
              <a:t>Vezetést segítő rendszerek (</a:t>
            </a:r>
            <a:r>
              <a:rPr lang="hu-HU" dirty="0" err="1"/>
              <a:t>tempomat</a:t>
            </a:r>
            <a:r>
              <a:rPr lang="hu-HU" dirty="0"/>
              <a:t>)</a:t>
            </a:r>
          </a:p>
          <a:p>
            <a:r>
              <a:rPr lang="hu-HU" dirty="0"/>
              <a:t>Részleges automatizálás</a:t>
            </a:r>
          </a:p>
          <a:p>
            <a:r>
              <a:rPr lang="hu-HU" dirty="0"/>
              <a:t>Feltételes automatizálás</a:t>
            </a:r>
          </a:p>
          <a:p>
            <a:r>
              <a:rPr lang="hu-HU" dirty="0"/>
              <a:t>Magas automatizálás</a:t>
            </a:r>
          </a:p>
          <a:p>
            <a:r>
              <a:rPr lang="hu-HU" dirty="0"/>
              <a:t>Teljes autonómia</a:t>
            </a:r>
          </a:p>
          <a:p>
            <a:r>
              <a:rPr lang="hu-HU" dirty="0"/>
              <a:t>Példa: a Tesla </a:t>
            </a:r>
            <a:r>
              <a:rPr lang="hu-HU" dirty="0" err="1"/>
              <a:t>Autopilot</a:t>
            </a:r>
            <a:r>
              <a:rPr lang="hu-HU" dirty="0"/>
              <a:t> rendszere kb. </a:t>
            </a:r>
            <a:r>
              <a:rPr lang="hu-HU" b="1" dirty="0"/>
              <a:t>2–3. szint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pic>
        <p:nvPicPr>
          <p:cNvPr id="2050" name="Picture 2" descr="Hi-Drive - Magyar Autóklub">
            <a:extLst>
              <a:ext uri="{FF2B5EF4-FFF2-40B4-BE49-F238E27FC236}">
                <a16:creationId xmlns:a16="http://schemas.microsoft.com/office/drawing/2014/main" id="{19A9607F-2481-4DFB-A693-A3B41BC95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194" y="2355209"/>
            <a:ext cx="3429000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09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FE8DA9-7F09-4D0D-87D4-F52769A4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Az önvezető autó fő részei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1A5FD2-9F78-4B61-ACFF-AC4CF0A1B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Az autonóm rendszer fő elemei:</a:t>
            </a:r>
          </a:p>
          <a:p>
            <a:r>
              <a:rPr lang="hu-HU" dirty="0"/>
              <a:t>Szenzorok</a:t>
            </a:r>
          </a:p>
          <a:p>
            <a:r>
              <a:rPr lang="hu-HU" dirty="0"/>
              <a:t>Kamerák</a:t>
            </a:r>
          </a:p>
          <a:p>
            <a:r>
              <a:rPr lang="hu-HU" dirty="0"/>
              <a:t>Radar</a:t>
            </a:r>
          </a:p>
          <a:p>
            <a:r>
              <a:rPr lang="hu-HU" dirty="0" err="1"/>
              <a:t>Lidar</a:t>
            </a:r>
            <a:endParaRPr lang="hu-HU" dirty="0"/>
          </a:p>
          <a:p>
            <a:r>
              <a:rPr lang="hu-HU" dirty="0"/>
              <a:t>GPS</a:t>
            </a:r>
          </a:p>
          <a:p>
            <a:r>
              <a:rPr lang="hu-HU" dirty="0"/>
              <a:t>Fedélzeti számítógép</a:t>
            </a:r>
          </a:p>
          <a:p>
            <a:r>
              <a:rPr lang="hu-HU" dirty="0"/>
              <a:t>Mesterséges intelligencia</a:t>
            </a:r>
          </a:p>
          <a:p>
            <a:r>
              <a:rPr lang="hu-HU" dirty="0"/>
              <a:t>Ezek együtt dolgozva </a:t>
            </a:r>
            <a:r>
              <a:rPr lang="hu-HU" b="1" dirty="0"/>
              <a:t>érzékelik, feldolgozzák és irányítják</a:t>
            </a:r>
            <a:r>
              <a:rPr lang="hu-HU" dirty="0"/>
              <a:t> az autót.</a:t>
            </a:r>
          </a:p>
          <a:p>
            <a:endParaRPr lang="hu-HU" dirty="0"/>
          </a:p>
        </p:txBody>
      </p:sp>
      <p:pic>
        <p:nvPicPr>
          <p:cNvPr id="3074" name="Picture 2" descr="Egy elektromos autó felépítése - e-cars.hu">
            <a:extLst>
              <a:ext uri="{FF2B5EF4-FFF2-40B4-BE49-F238E27FC236}">
                <a16:creationId xmlns:a16="http://schemas.microsoft.com/office/drawing/2014/main" id="{6ED32276-AD01-4F5D-A22D-4B711606F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959" y="1528762"/>
            <a:ext cx="43815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18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A4F2FD-D480-4C4D-8C50-73850AB2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Szenzorok és érzékelés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D93E66-E2F3-4AE6-9764-B4B5F7386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Az autó folyamatosan figyeli a környezetét:</a:t>
            </a:r>
          </a:p>
          <a:p>
            <a:r>
              <a:rPr lang="hu-HU" b="1" dirty="0"/>
              <a:t>Kamerák</a:t>
            </a:r>
            <a:endParaRPr lang="hu-HU" dirty="0"/>
          </a:p>
          <a:p>
            <a:r>
              <a:rPr lang="hu-HU" dirty="0"/>
              <a:t>közlekedési táblák felismerése</a:t>
            </a:r>
          </a:p>
          <a:p>
            <a:r>
              <a:rPr lang="hu-HU" dirty="0"/>
              <a:t>sávok érzékelése</a:t>
            </a:r>
          </a:p>
          <a:p>
            <a:r>
              <a:rPr lang="hu-HU" b="1" dirty="0"/>
              <a:t>Radar</a:t>
            </a:r>
            <a:endParaRPr lang="hu-HU" dirty="0"/>
          </a:p>
          <a:p>
            <a:r>
              <a:rPr lang="hu-HU" dirty="0"/>
              <a:t>távolság és sebesség mérése</a:t>
            </a:r>
          </a:p>
          <a:p>
            <a:r>
              <a:rPr lang="hu-HU" b="1" dirty="0" err="1"/>
              <a:t>Lidar</a:t>
            </a:r>
            <a:endParaRPr lang="hu-HU" dirty="0"/>
          </a:p>
          <a:p>
            <a:r>
              <a:rPr lang="hu-HU" dirty="0"/>
              <a:t>3D térkép készítése lézerrel</a:t>
            </a:r>
          </a:p>
          <a:p>
            <a:r>
              <a:rPr lang="hu-HU" b="1" dirty="0"/>
              <a:t>Ultrahang szenzorok</a:t>
            </a:r>
            <a:endParaRPr lang="hu-HU" dirty="0"/>
          </a:p>
          <a:p>
            <a:r>
              <a:rPr lang="hu-HU" dirty="0"/>
              <a:t>parkolásnál segítenek</a:t>
            </a:r>
          </a:p>
          <a:p>
            <a:endParaRPr lang="hu-HU" dirty="0"/>
          </a:p>
        </p:txBody>
      </p:sp>
      <p:pic>
        <p:nvPicPr>
          <p:cNvPr id="4098" name="Picture 2" descr="SUPER TRENDS® parkoló érzékelők, 4-es vevőegység, LED kijelző, hangjelző,  kék - eMAG.hu">
            <a:extLst>
              <a:ext uri="{FF2B5EF4-FFF2-40B4-BE49-F238E27FC236}">
                <a16:creationId xmlns:a16="http://schemas.microsoft.com/office/drawing/2014/main" id="{C7F3823E-BC2E-4EEB-AB3C-779C734312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60"/>
          <a:stretch/>
        </p:blipFill>
        <p:spPr bwMode="auto">
          <a:xfrm>
            <a:off x="6635692" y="2195971"/>
            <a:ext cx="5087224" cy="345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37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E368D8-4711-4559-8C44-6ECD1A08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Környezet felismerése (</a:t>
            </a:r>
            <a:r>
              <a:rPr lang="hu-HU" dirty="0" err="1">
                <a:latin typeface="Forte" panose="03060902040502070203" pitchFamily="66" charset="0"/>
              </a:rPr>
              <a:t>Perception</a:t>
            </a:r>
            <a:r>
              <a:rPr lang="hu-HU" dirty="0">
                <a:latin typeface="Forte" panose="03060902040502070203" pitchFamily="66" charset="0"/>
              </a:rPr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E3EAA1-2EEF-433F-8A78-331781FE3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jármű </a:t>
            </a:r>
            <a:r>
              <a:rPr lang="hu-HU" b="1" dirty="0"/>
              <a:t>feldolgozza az érzékelők adatait</a:t>
            </a:r>
            <a:r>
              <a:rPr lang="hu-HU" dirty="0"/>
              <a:t>.</a:t>
            </a:r>
          </a:p>
          <a:p>
            <a:r>
              <a:rPr lang="hu-HU" dirty="0"/>
              <a:t>Mesterséges intelligencia segítségével felismeri:</a:t>
            </a:r>
          </a:p>
          <a:p>
            <a:r>
              <a:rPr lang="hu-HU" dirty="0"/>
              <a:t>gyalogosokat</a:t>
            </a:r>
          </a:p>
          <a:p>
            <a:r>
              <a:rPr lang="hu-HU" dirty="0"/>
              <a:t>más járműveket</a:t>
            </a:r>
          </a:p>
          <a:p>
            <a:r>
              <a:rPr lang="hu-HU" dirty="0"/>
              <a:t>sávokat</a:t>
            </a:r>
          </a:p>
          <a:p>
            <a:r>
              <a:rPr lang="hu-HU" dirty="0"/>
              <a:t>közlekedési táblákat</a:t>
            </a:r>
          </a:p>
          <a:p>
            <a:r>
              <a:rPr lang="hu-HU" dirty="0"/>
              <a:t>jelzőlámpákat</a:t>
            </a:r>
          </a:p>
          <a:p>
            <a:r>
              <a:rPr lang="hu-HU" dirty="0"/>
              <a:t>Ez a folyamat az </a:t>
            </a:r>
            <a:r>
              <a:rPr lang="hu-HU" b="1" dirty="0"/>
              <a:t>objektumfelismerés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pic>
        <p:nvPicPr>
          <p:cNvPr id="5122" name="Picture 2" descr="Az autóipari innovációk jövője: önvezető technológiák fejlődése »  Autófesték Bolt Kereső">
            <a:extLst>
              <a:ext uri="{FF2B5EF4-FFF2-40B4-BE49-F238E27FC236}">
                <a16:creationId xmlns:a16="http://schemas.microsoft.com/office/drawing/2014/main" id="{754E2C09-BDD6-4C53-8B5F-C7244B61C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222" y="2885813"/>
            <a:ext cx="4371866" cy="277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2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70E756-C91A-4560-B8BF-73E5543A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Döntéshozatal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E6523B-FD66-4172-B9E6-5D855B918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autó algoritmusok segítségével dönt:</a:t>
            </a:r>
          </a:p>
          <a:p>
            <a:r>
              <a:rPr lang="hu-HU" dirty="0"/>
              <a:t>Mikor gyorsítson</a:t>
            </a:r>
          </a:p>
          <a:p>
            <a:r>
              <a:rPr lang="hu-HU" dirty="0"/>
              <a:t>Mikor fékezzen</a:t>
            </a:r>
          </a:p>
          <a:p>
            <a:r>
              <a:rPr lang="hu-HU" dirty="0"/>
              <a:t>Mikor kanyarodjon</a:t>
            </a:r>
          </a:p>
          <a:p>
            <a:r>
              <a:rPr lang="hu-HU" dirty="0"/>
              <a:t>Hogyan kerülje ki az akadályokat</a:t>
            </a:r>
          </a:p>
          <a:p>
            <a:r>
              <a:rPr lang="hu-HU" dirty="0"/>
              <a:t>Ehhez </a:t>
            </a:r>
            <a:r>
              <a:rPr lang="hu-HU" b="1" dirty="0"/>
              <a:t>útvonaltervező algoritmusokat</a:t>
            </a:r>
            <a:r>
              <a:rPr lang="hu-HU" dirty="0"/>
              <a:t> használ.</a:t>
            </a:r>
          </a:p>
          <a:p>
            <a:endParaRPr lang="hu-HU" dirty="0"/>
          </a:p>
        </p:txBody>
      </p:sp>
      <p:pic>
        <p:nvPicPr>
          <p:cNvPr id="7170" name="Picture 2" descr="Elfelejthetjük az önvezető autókat?">
            <a:extLst>
              <a:ext uri="{FF2B5EF4-FFF2-40B4-BE49-F238E27FC236}">
                <a16:creationId xmlns:a16="http://schemas.microsoft.com/office/drawing/2014/main" id="{E2D8223E-D0C7-4C4C-ACF8-053933150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148" y="1392572"/>
            <a:ext cx="4588830" cy="2870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45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3FF76F-3B91-4D99-8E67-F2CD5273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Vezérlés (</a:t>
            </a:r>
            <a:r>
              <a:rPr lang="hu-HU" dirty="0" err="1">
                <a:latin typeface="Forte" panose="03060902040502070203" pitchFamily="66" charset="0"/>
              </a:rPr>
              <a:t>Control</a:t>
            </a:r>
            <a:r>
              <a:rPr lang="hu-HU" dirty="0">
                <a:latin typeface="Forte" panose="03060902040502070203" pitchFamily="66" charset="0"/>
              </a:rPr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9F8B0D-1292-435B-B889-8042F5AC9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számítógép utasításokat küld az autó rendszereinek:</a:t>
            </a:r>
          </a:p>
          <a:p>
            <a:r>
              <a:rPr lang="hu-HU" dirty="0"/>
              <a:t>kormányzás</a:t>
            </a:r>
          </a:p>
          <a:p>
            <a:r>
              <a:rPr lang="hu-HU" dirty="0"/>
              <a:t>gyorsítás</a:t>
            </a:r>
          </a:p>
          <a:p>
            <a:r>
              <a:rPr lang="hu-HU" dirty="0"/>
              <a:t>fékezés</a:t>
            </a:r>
          </a:p>
          <a:p>
            <a:r>
              <a:rPr lang="hu-HU" dirty="0"/>
              <a:t>Ez történik </a:t>
            </a:r>
            <a:r>
              <a:rPr lang="hu-HU" b="1" dirty="0"/>
              <a:t>másodpercenként többször</a:t>
            </a:r>
            <a:r>
              <a:rPr lang="hu-HU" dirty="0"/>
              <a:t>,</a:t>
            </a:r>
          </a:p>
          <a:p>
            <a:pPr marL="0" indent="0">
              <a:buNone/>
            </a:pPr>
            <a:r>
              <a:rPr lang="hu-HU" dirty="0"/>
              <a:t> így a jármű stabilan halad.</a:t>
            </a:r>
          </a:p>
          <a:p>
            <a:endParaRPr lang="hu-HU" dirty="0"/>
          </a:p>
        </p:txBody>
      </p:sp>
      <p:pic>
        <p:nvPicPr>
          <p:cNvPr id="6146" name="Picture 2" descr="Ez a jövő: futurisztikus funkciók az önvezető autókban - autopro.hu">
            <a:extLst>
              <a:ext uri="{FF2B5EF4-FFF2-40B4-BE49-F238E27FC236}">
                <a16:creationId xmlns:a16="http://schemas.microsoft.com/office/drawing/2014/main" id="{B3433A47-075F-4B17-8C87-274106144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015" y="2650920"/>
            <a:ext cx="4355284" cy="32664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37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DE19CE-E9DF-4E34-A0CA-8819E68B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Térképek és navigáció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A1D60D-FE3D-4554-A560-1C55C20AD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önvezető autók </a:t>
            </a:r>
            <a:r>
              <a:rPr lang="hu-HU" b="1" dirty="0"/>
              <a:t>nagy pontosságú térképeket</a:t>
            </a:r>
            <a:r>
              <a:rPr lang="hu-HU" dirty="0"/>
              <a:t> használnak.</a:t>
            </a:r>
          </a:p>
          <a:p>
            <a:r>
              <a:rPr lang="hu-HU" dirty="0"/>
              <a:t>Segítő technológiák:</a:t>
            </a:r>
          </a:p>
          <a:p>
            <a:r>
              <a:rPr lang="hu-HU" dirty="0"/>
              <a:t>GPS</a:t>
            </a:r>
          </a:p>
          <a:p>
            <a:r>
              <a:rPr lang="hu-HU" dirty="0"/>
              <a:t>HD térképek</a:t>
            </a:r>
          </a:p>
          <a:p>
            <a:r>
              <a:rPr lang="hu-HU" dirty="0"/>
              <a:t>valós idejű szenzoradatok</a:t>
            </a:r>
          </a:p>
          <a:p>
            <a:r>
              <a:rPr lang="hu-HU" dirty="0"/>
              <a:t>Példa: </a:t>
            </a:r>
            <a:r>
              <a:rPr lang="hu-HU" dirty="0" err="1"/>
              <a:t>Waymo</a:t>
            </a:r>
            <a:r>
              <a:rPr lang="hu-HU" dirty="0"/>
              <a:t> részletes 3D térképeket használ.</a:t>
            </a:r>
          </a:p>
          <a:p>
            <a:endParaRPr lang="hu-HU" dirty="0"/>
          </a:p>
        </p:txBody>
      </p:sp>
      <p:pic>
        <p:nvPicPr>
          <p:cNvPr id="8196" name="Picture 4" descr="GPS navigáció, térképek és – Alkalmazások a Google Playen">
            <a:extLst>
              <a:ext uri="{FF2B5EF4-FFF2-40B4-BE49-F238E27FC236}">
                <a16:creationId xmlns:a16="http://schemas.microsoft.com/office/drawing/2014/main" id="{1E07B167-0298-4FF4-83C7-F278207B7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568" y="2567030"/>
            <a:ext cx="3468149" cy="3468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836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F19638-2845-4E3E-BD0D-51F8CD5F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585"/>
            <a:ext cx="5453543" cy="1325563"/>
          </a:xfrm>
        </p:spPr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Előnyök és kihívások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25424E-4D6D-4C62-AAFF-2DD9A02E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6372" cy="4351338"/>
          </a:xfrm>
        </p:spPr>
        <p:txBody>
          <a:bodyPr>
            <a:normAutofit fontScale="92500" lnSpcReduction="20000"/>
          </a:bodyPr>
          <a:lstStyle/>
          <a:p>
            <a:r>
              <a:rPr lang="hu-HU" b="1" dirty="0"/>
              <a:t>Előnyök</a:t>
            </a:r>
            <a:endParaRPr lang="hu-HU" dirty="0"/>
          </a:p>
          <a:p>
            <a:r>
              <a:rPr lang="hu-HU" dirty="0"/>
              <a:t>kevesebb baleset</a:t>
            </a:r>
          </a:p>
          <a:p>
            <a:r>
              <a:rPr lang="hu-HU" dirty="0"/>
              <a:t>kényelmesebb közlekedés</a:t>
            </a:r>
          </a:p>
          <a:p>
            <a:r>
              <a:rPr lang="hu-HU" dirty="0"/>
              <a:t>hatékonyabb forgalom</a:t>
            </a:r>
          </a:p>
          <a:p>
            <a:r>
              <a:rPr lang="hu-HU" dirty="0"/>
              <a:t>kevesebb emberi hiba</a:t>
            </a:r>
          </a:p>
          <a:p>
            <a:r>
              <a:rPr lang="hu-HU" b="1" dirty="0"/>
              <a:t>Kihívások</a:t>
            </a:r>
            <a:endParaRPr lang="hu-HU" dirty="0"/>
          </a:p>
          <a:p>
            <a:r>
              <a:rPr lang="hu-HU" dirty="0"/>
              <a:t>jogi szabályozás</a:t>
            </a:r>
          </a:p>
          <a:p>
            <a:r>
              <a:rPr lang="hu-HU" dirty="0"/>
              <a:t>technológiai hibák</a:t>
            </a:r>
          </a:p>
          <a:p>
            <a:r>
              <a:rPr lang="hu-HU" dirty="0"/>
              <a:t>etikai kérdések</a:t>
            </a:r>
          </a:p>
          <a:p>
            <a:r>
              <a:rPr lang="hu-HU" dirty="0"/>
              <a:t>rossz időjárás</a:t>
            </a:r>
          </a:p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069E99E-8037-4EA7-8B9B-1E9ACFFE74B4}"/>
              </a:ext>
            </a:extLst>
          </p:cNvPr>
          <p:cNvSpPr txBox="1"/>
          <p:nvPr/>
        </p:nvSpPr>
        <p:spPr>
          <a:xfrm>
            <a:off x="6553173" y="706202"/>
            <a:ext cx="2164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latin typeface="Forte" panose="03060902040502070203" pitchFamily="66" charset="0"/>
              </a:rPr>
              <a:t>Összegzés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8A7B189-5A8D-47A9-B742-972874909FC3}"/>
              </a:ext>
            </a:extLst>
          </p:cNvPr>
          <p:cNvSpPr txBox="1"/>
          <p:nvPr/>
        </p:nvSpPr>
        <p:spPr>
          <a:xfrm>
            <a:off x="6553173" y="1825625"/>
            <a:ext cx="51145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Az önvezető autók:</a:t>
            </a:r>
          </a:p>
          <a:p>
            <a:r>
              <a:rPr lang="hu-HU" dirty="0"/>
              <a:t>fejlett szenzorokkal működnek</a:t>
            </a:r>
          </a:p>
          <a:p>
            <a:r>
              <a:rPr lang="hu-HU" dirty="0"/>
              <a:t>mesterséges intelligenciát használnak</a:t>
            </a:r>
          </a:p>
          <a:p>
            <a:r>
              <a:rPr lang="hu-HU" dirty="0"/>
              <a:t>folyamatosan elemzik a környezetet</a:t>
            </a:r>
          </a:p>
          <a:p>
            <a:r>
              <a:rPr lang="hu-HU" dirty="0"/>
              <a:t>önálló döntéseket hoznak</a:t>
            </a:r>
          </a:p>
          <a:p>
            <a:r>
              <a:rPr lang="hu-HU" dirty="0"/>
              <a:t>A technológia gyorsan fejlődik, </a:t>
            </a:r>
          </a:p>
          <a:p>
            <a:r>
              <a:rPr lang="hu-HU" dirty="0"/>
              <a:t>és várhatóan a jövő közlekedésének fontos része lesz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02800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766FEF-C517-4822-888D-BA7D1044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794" y="1304692"/>
            <a:ext cx="5896412" cy="1325563"/>
          </a:xfrm>
        </p:spPr>
        <p:txBody>
          <a:bodyPr/>
          <a:lstStyle/>
          <a:p>
            <a:r>
              <a:rPr lang="hu-HU" dirty="0">
                <a:latin typeface="Forte" panose="03060902040502070203" pitchFamily="66" charset="0"/>
              </a:rPr>
              <a:t>Köszönöm a figyelmet!</a:t>
            </a:r>
          </a:p>
        </p:txBody>
      </p:sp>
      <p:pic>
        <p:nvPicPr>
          <p:cNvPr id="10244" name="Picture 4" descr="Elektromos autó töltők - Power Charge - Lakossági és vállalati energetikai  megoldások">
            <a:extLst>
              <a:ext uri="{FF2B5EF4-FFF2-40B4-BE49-F238E27FC236}">
                <a16:creationId xmlns:a16="http://schemas.microsoft.com/office/drawing/2014/main" id="{C1818CEF-AF6C-4439-9676-9FFCC876B5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901" y="2374449"/>
            <a:ext cx="7914198" cy="310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97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Szélesvásznú</PresentationFormat>
  <Paragraphs>87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Forte</vt:lpstr>
      <vt:lpstr>Office-téma</vt:lpstr>
      <vt:lpstr>Önvezető autók</vt:lpstr>
      <vt:lpstr>Önvezető autók (autonóm járművek) </vt:lpstr>
      <vt:lpstr>Az autonómia szintjei</vt:lpstr>
      <vt:lpstr>Az önvezető autó fő részei</vt:lpstr>
      <vt:lpstr>Szenzorok és érzékelés</vt:lpstr>
      <vt:lpstr>Környezet felismerése (Perception)</vt:lpstr>
      <vt:lpstr>Döntéshozatal</vt:lpstr>
      <vt:lpstr>Vezérlés (Control)</vt:lpstr>
      <vt:lpstr>Térképek és navigáció</vt:lpstr>
      <vt:lpstr>Előnyök és kihívások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Önvezető autók</dc:title>
  <dc:creator>Vizsgazo</dc:creator>
  <cp:lastModifiedBy>Vizsgazo</cp:lastModifiedBy>
  <cp:revision>4</cp:revision>
  <dcterms:created xsi:type="dcterms:W3CDTF">2026-03-16T07:24:37Z</dcterms:created>
  <dcterms:modified xsi:type="dcterms:W3CDTF">2026-03-16T08:23:45Z</dcterms:modified>
</cp:coreProperties>
</file>