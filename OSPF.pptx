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7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583DB0-7EE8-4304-80B4-4FBDE4A59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676" y="939800"/>
            <a:ext cx="8825658" cy="3329581"/>
          </a:xfrm>
        </p:spPr>
        <p:txBody>
          <a:bodyPr/>
          <a:lstStyle/>
          <a:p>
            <a:r>
              <a:rPr lang="hu-HU" dirty="0">
                <a:latin typeface="Algerian" panose="04020705040A02060702" pitchFamily="82" charset="0"/>
              </a:rPr>
              <a:t>OSPFv2 							alapfogalmak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8F12E9-5AD9-48F1-B2A3-813A6C51A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421" y="5776447"/>
            <a:ext cx="8825658" cy="861420"/>
          </a:xfrm>
        </p:spPr>
        <p:txBody>
          <a:bodyPr/>
          <a:lstStyle/>
          <a:p>
            <a:r>
              <a:rPr lang="hu-HU" dirty="0">
                <a:latin typeface="Bell MT" panose="02020503060305020303" pitchFamily="18" charset="0"/>
              </a:rPr>
              <a:t>BORSOS FERENC</a:t>
            </a:r>
          </a:p>
        </p:txBody>
      </p:sp>
    </p:spTree>
    <p:extLst>
      <p:ext uri="{BB962C8B-B14F-4D97-AF65-F5344CB8AC3E}">
        <p14:creationId xmlns:p14="http://schemas.microsoft.com/office/powerpoint/2010/main" val="6020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3E8776-F480-4268-9374-1E54B0C8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D185078-6FEB-4604-B5DD-FCCA7372D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1.0.1 fejezet</a:t>
            </a:r>
          </a:p>
          <a:p>
            <a:r>
              <a:rPr lang="hu-HU" dirty="0"/>
              <a:t>Számítógépes hálózatokban a csomagoknak mindig a leggyorsabb elérhető útvonal a legjobb. </a:t>
            </a:r>
          </a:p>
          <a:p>
            <a:r>
              <a:rPr lang="hu-HU" dirty="0"/>
              <a:t>Az OSPF (Open </a:t>
            </a:r>
            <a:r>
              <a:rPr lang="hu-HU" dirty="0" err="1"/>
              <a:t>Shortest</a:t>
            </a:r>
            <a:r>
              <a:rPr lang="hu-HU" dirty="0"/>
              <a:t> </a:t>
            </a:r>
            <a:r>
              <a:rPr lang="hu-HU" dirty="0" err="1"/>
              <a:t>Path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) célja, hogy megtalálja a leggyorsabb elérhető utat a csomag számára a forrástól a célig.</a:t>
            </a:r>
          </a:p>
          <a:p>
            <a:r>
              <a:rPr lang="hu-HU" dirty="0"/>
              <a:t> </a:t>
            </a:r>
            <a:r>
              <a:rPr lang="hu-HU" b="1" dirty="0"/>
              <a:t>Ez a fejezet az egyterületű OSPFv2 alapfogalmait fedi le. </a:t>
            </a:r>
          </a:p>
          <a:p>
            <a:r>
              <a:rPr lang="hu-HU" dirty="0"/>
              <a:t>A Témakörben az OSPF funkció a jellemzői ,OSPF csomagok és az OSPF működését mutatom be.</a:t>
            </a:r>
          </a:p>
        </p:txBody>
      </p:sp>
    </p:spTree>
    <p:extLst>
      <p:ext uri="{BB962C8B-B14F-4D97-AF65-F5344CB8AC3E}">
        <p14:creationId xmlns:p14="http://schemas.microsoft.com/office/powerpoint/2010/main" val="1058372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3AA862-B7C4-4F82-B087-3E257FAF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OSPF bemutatása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578312-DCFE-4F6C-AB28-000B423C4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OSPF (Open </a:t>
            </a:r>
            <a:r>
              <a:rPr lang="hu-HU" dirty="0" err="1"/>
              <a:t>Shortest</a:t>
            </a:r>
            <a:r>
              <a:rPr lang="hu-HU" dirty="0"/>
              <a:t> </a:t>
            </a:r>
            <a:r>
              <a:rPr lang="hu-HU" dirty="0" err="1"/>
              <a:t>Path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, "legrövidebb utat először") egy kapcsolatállapot alapú irányító protokoll</a:t>
            </a:r>
          </a:p>
          <a:p>
            <a:r>
              <a:rPr lang="hu-HU" dirty="0"/>
              <a:t>A RIP-</a:t>
            </a:r>
            <a:r>
              <a:rPr lang="hu-HU" dirty="0" err="1"/>
              <a:t>pel</a:t>
            </a:r>
            <a:r>
              <a:rPr lang="hu-HU" dirty="0"/>
              <a:t> szemben az OSPF lényeges előnye, hogy a nagyobb hálózatok esetében gyorsabb kommunikációt és méretezhetőséget biztosít.</a:t>
            </a:r>
          </a:p>
          <a:p>
            <a:r>
              <a:rPr lang="hu-HU" dirty="0"/>
              <a:t>Az OSPF egy kapcsolatállapot alapú irányító protokoll , ami azt jelenti, hogy az OSPF-ben minden router </a:t>
            </a:r>
            <a:r>
              <a:rPr lang="hu-HU" b="1" dirty="0"/>
              <a:t>a hálózati kapcsolatok állapotáról gyűjt információt</a:t>
            </a:r>
            <a:r>
              <a:rPr lang="hu-HU" dirty="0"/>
              <a:t>, és ezek alapján </a:t>
            </a:r>
            <a:r>
              <a:rPr lang="hu-HU" b="1" dirty="0"/>
              <a:t>önállóan építi fel a teljes hálózat térképét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165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B4F1B5-C95F-4BB8-8016-410E1E61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Az OSPF </a:t>
            </a:r>
            <a:r>
              <a:rPr lang="hu-HU" b="1" dirty="0" err="1"/>
              <a:t>csomagtípusok,üzenetek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39C408-96FE-449F-87A8-D89E51052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b="1" dirty="0"/>
              <a:t>Az OSPF öt csomagtípust használ az útválasztási adatok megosztására</a:t>
            </a:r>
            <a:r>
              <a:rPr lang="hu-HU" dirty="0"/>
              <a:t>.</a:t>
            </a:r>
          </a:p>
          <a:p>
            <a:r>
              <a:rPr lang="hu-HU" dirty="0"/>
              <a:t>Hello csomag</a:t>
            </a:r>
          </a:p>
          <a:p>
            <a:r>
              <a:rPr lang="hu-HU" dirty="0"/>
              <a:t>Adatbázisleíró csomag</a:t>
            </a:r>
          </a:p>
          <a:p>
            <a:r>
              <a:rPr lang="hu-HU" dirty="0"/>
              <a:t>Kapcsolatállapot kérés csomag</a:t>
            </a:r>
          </a:p>
          <a:p>
            <a:r>
              <a:rPr lang="hu-HU" dirty="0"/>
              <a:t>Kapcsolatállapot frissítés csomag</a:t>
            </a:r>
          </a:p>
          <a:p>
            <a:r>
              <a:rPr lang="hu-HU" dirty="0"/>
              <a:t>Kapcsolatállapot nyugtázás csomag</a:t>
            </a:r>
          </a:p>
          <a:p>
            <a:pPr marL="0" indent="0">
              <a:buNone/>
            </a:pPr>
            <a:r>
              <a:rPr lang="hu-HU" b="1" dirty="0"/>
              <a:t>Az OSPF-üzenetek három OSPF-adatbázis létrehozására és karbantartására szolgálnak</a:t>
            </a:r>
          </a:p>
          <a:p>
            <a:r>
              <a:rPr lang="hu-HU" b="1" dirty="0"/>
              <a:t>Szomszédsági adatbázis</a:t>
            </a:r>
            <a:r>
              <a:rPr lang="hu-HU" dirty="0"/>
              <a:t> - Ez hozza létre a szomszédságok táblázatát.</a:t>
            </a:r>
          </a:p>
          <a:p>
            <a:r>
              <a:rPr lang="hu-HU" b="1" dirty="0"/>
              <a:t>Kapcsolatállapot adatbázis (LSDB)</a:t>
            </a:r>
            <a:r>
              <a:rPr lang="hu-HU" dirty="0"/>
              <a:t> - Ez hozza létre a topológiatáblázatot.</a:t>
            </a:r>
          </a:p>
          <a:p>
            <a:r>
              <a:rPr lang="hu-HU" b="1" dirty="0"/>
              <a:t>Továbbító adatbázis</a:t>
            </a:r>
            <a:r>
              <a:rPr lang="hu-HU" dirty="0"/>
              <a:t> - Ez hozza létre az irányító táblát.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25885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B794DA-807F-4E59-875B-BDB53B52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OSPF alkotórészei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2C6807-5F5A-4365-AEB9-84C7F4A68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270001"/>
            <a:ext cx="8946541" cy="5063066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sz="2400" b="1" dirty="0"/>
              <a:t>Router ID (RID)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dirty="0"/>
              <a:t> </a:t>
            </a:r>
            <a:r>
              <a:rPr lang="hu-HU" altLang="hu-HU" dirty="0">
                <a:latin typeface="Arial" panose="020B0604020202020204" pitchFamily="34" charset="0"/>
              </a:rPr>
              <a:t>Az OSPF-ben </a:t>
            </a:r>
            <a:r>
              <a:rPr lang="hu-HU" altLang="hu-HU" b="1" dirty="0">
                <a:latin typeface="Arial" panose="020B0604020202020204" pitchFamily="34" charset="0"/>
              </a:rPr>
              <a:t>minden routernek egyedi azonosítója</a:t>
            </a:r>
            <a:r>
              <a:rPr lang="hu-HU" altLang="hu-HU" dirty="0">
                <a:latin typeface="Arial" panose="020B0604020202020204" pitchFamily="34" charset="0"/>
              </a:rPr>
              <a:t> van, ez a </a:t>
            </a:r>
            <a:r>
              <a:rPr lang="hu-HU" altLang="hu-HU" i="1" dirty="0">
                <a:latin typeface="Arial" panose="020B0604020202020204" pitchFamily="34" charset="0"/>
              </a:rPr>
              <a:t>Router ID</a:t>
            </a:r>
            <a:r>
              <a:rPr lang="hu-HU" altLang="hu-HU" dirty="0">
                <a:latin typeface="Arial" panose="020B0604020202020204" pitchFamily="34" charset="0"/>
              </a:rPr>
              <a:t> IP-cím formátumú 32 bites szám, pl. 1.1.1.1).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dirty="0">
                <a:latin typeface="Arial" panose="020B0604020202020204" pitchFamily="34" charset="0"/>
              </a:rPr>
              <a:t>Ezt használják a routerek azonosításra az OSPF hálózaton belül.</a:t>
            </a:r>
          </a:p>
          <a:p>
            <a:pPr marL="0" indent="0">
              <a:buNone/>
            </a:pPr>
            <a:r>
              <a:rPr lang="hu-HU" sz="2400" b="1" dirty="0" err="1"/>
              <a:t>Area</a:t>
            </a:r>
            <a:r>
              <a:rPr lang="hu-HU" sz="2400" b="1" dirty="0"/>
              <a:t>-k (területek)</a:t>
            </a:r>
          </a:p>
          <a:p>
            <a:pPr marL="0" indent="0">
              <a:buNone/>
            </a:pPr>
            <a:r>
              <a:rPr lang="hu-HU" sz="2400" dirty="0"/>
              <a:t>Az OSPF </a:t>
            </a:r>
            <a:r>
              <a:rPr lang="hu-HU" sz="2400" b="1" dirty="0"/>
              <a:t>területekre (</a:t>
            </a:r>
            <a:r>
              <a:rPr lang="hu-HU" sz="2400" b="1" dirty="0" err="1"/>
              <a:t>areas</a:t>
            </a:r>
            <a:r>
              <a:rPr lang="hu-HU" sz="2400" b="1" dirty="0"/>
              <a:t>)</a:t>
            </a:r>
            <a:r>
              <a:rPr lang="hu-HU" sz="2400" dirty="0"/>
              <a:t> osztja a hálózatot a hatékonyabb működés érdekében.</a:t>
            </a:r>
          </a:p>
          <a:p>
            <a:pPr marL="0" indent="0">
              <a:buNone/>
            </a:pPr>
            <a:r>
              <a:rPr lang="hu-HU" sz="2400" dirty="0"/>
              <a:t>Az </a:t>
            </a:r>
            <a:r>
              <a:rPr lang="hu-HU" sz="2400" dirty="0" err="1"/>
              <a:t>area</a:t>
            </a:r>
            <a:r>
              <a:rPr lang="hu-HU" sz="2400" dirty="0"/>
              <a:t>-k csökkentik a forgalmat</a:t>
            </a:r>
          </a:p>
          <a:p>
            <a:pPr marL="0" indent="0">
              <a:buNone/>
            </a:pPr>
            <a:r>
              <a:rPr lang="hu-HU" sz="2400" b="1" dirty="0"/>
              <a:t>Link-</a:t>
            </a:r>
            <a:r>
              <a:rPr lang="hu-HU" sz="2400" b="1" dirty="0" err="1"/>
              <a:t>State</a:t>
            </a:r>
            <a:r>
              <a:rPr lang="hu-HU" sz="2400" b="1" dirty="0"/>
              <a:t> </a:t>
            </a:r>
            <a:r>
              <a:rPr lang="hu-HU" sz="2400" b="1" dirty="0" err="1"/>
              <a:t>Database</a:t>
            </a:r>
            <a:endParaRPr lang="hu-HU" sz="2400" b="1" dirty="0"/>
          </a:p>
          <a:p>
            <a:pPr marL="0" indent="0">
              <a:buNone/>
            </a:pPr>
            <a:r>
              <a:rPr lang="hu-HU" sz="2400" dirty="0"/>
              <a:t>Minden router egy </a:t>
            </a:r>
            <a:r>
              <a:rPr lang="hu-HU" sz="2400" b="1" dirty="0"/>
              <a:t>link-</a:t>
            </a:r>
            <a:r>
              <a:rPr lang="hu-HU" sz="2400" b="1" dirty="0" err="1"/>
              <a:t>state</a:t>
            </a:r>
            <a:r>
              <a:rPr lang="hu-HU" sz="2400" b="1" dirty="0"/>
              <a:t> adatbázist</a:t>
            </a:r>
            <a:r>
              <a:rPr lang="hu-HU" sz="2400" dirty="0"/>
              <a:t> tart fenn, amely tartalmazza az összes router és kapcsolat állapotát az adott területen belül.</a:t>
            </a:r>
            <a:endParaRPr lang="hu-HU" sz="2400" b="1" dirty="0"/>
          </a:p>
          <a:p>
            <a:pPr marL="0" indent="0">
              <a:buNone/>
            </a:pPr>
            <a:endParaRPr lang="hu-HU" sz="2400" b="1" dirty="0"/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36010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E114A9-F9C4-4369-A9B8-F3DFB6FF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Egyterületű és többterületű OSPF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86C167A-16F3-4601-8E14-2298E6FC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Egyterületű OSPF</a:t>
            </a:r>
            <a:r>
              <a:rPr lang="hu-HU" dirty="0"/>
              <a:t> - Az egyterületű OSPF egyszerű és átlátható megoldás, de csak </a:t>
            </a:r>
            <a:r>
              <a:rPr lang="hu-HU" b="1" dirty="0"/>
              <a:t>kis és közepes méretű hálózatokhoz</a:t>
            </a:r>
            <a:r>
              <a:rPr lang="hu-HU" dirty="0"/>
              <a:t> ajánlott. Minden router ugyanazt a területet használja. Ajánlott a 0-s terület használata.</a:t>
            </a:r>
          </a:p>
          <a:p>
            <a:r>
              <a:rPr lang="hu-HU" b="1" dirty="0"/>
              <a:t>Többterületű OSPF</a:t>
            </a:r>
            <a:r>
              <a:rPr lang="hu-HU" dirty="0"/>
              <a:t> - </a:t>
            </a:r>
            <a:r>
              <a:rPr lang="hu-HU" altLang="hu-HU" dirty="0">
                <a:latin typeface="Arial" panose="020B0604020202020204" pitchFamily="34" charset="0"/>
              </a:rPr>
              <a:t>A többterületű OSPF célja a hálózat felosztása kisebb </a:t>
            </a:r>
            <a:r>
              <a:rPr lang="hu-HU" altLang="hu-HU" dirty="0" err="1">
                <a:latin typeface="Arial" panose="020B0604020202020204" pitchFamily="34" charset="0"/>
              </a:rPr>
              <a:t>egységekre,hogy</a:t>
            </a:r>
            <a:r>
              <a:rPr lang="hu-HU" altLang="hu-HU" dirty="0">
                <a:latin typeface="Arial" panose="020B0604020202020204" pitchFamily="34" charset="0"/>
              </a:rPr>
              <a:t> az OSPF hatékonyabban, gyorsabban és kevesebb erőforrással </a:t>
            </a:r>
            <a:r>
              <a:rPr lang="hu-HU" altLang="hu-HU" dirty="0" err="1">
                <a:latin typeface="Arial" panose="020B0604020202020204" pitchFamily="34" charset="0"/>
              </a:rPr>
              <a:t>működjön</a:t>
            </a:r>
            <a:r>
              <a:rPr lang="hu-HU" altLang="hu-HU" dirty="0">
                <a:latin typeface="Arial" panose="020B0604020202020204" pitchFamily="34" charset="0"/>
              </a:rPr>
              <a:t>.</a:t>
            </a:r>
          </a:p>
          <a:p>
            <a:r>
              <a:rPr lang="hu-HU" dirty="0"/>
              <a:t>A területeket összekötő routereket (</a:t>
            </a:r>
            <a:r>
              <a:rPr lang="hu-HU" dirty="0" err="1"/>
              <a:t>Area</a:t>
            </a:r>
            <a:r>
              <a:rPr lang="hu-HU" dirty="0"/>
              <a:t> </a:t>
            </a:r>
            <a:r>
              <a:rPr lang="hu-HU" dirty="0" err="1"/>
              <a:t>Border</a:t>
            </a:r>
            <a:r>
              <a:rPr lang="hu-HU" dirty="0"/>
              <a:t> </a:t>
            </a:r>
            <a:r>
              <a:rPr lang="hu-HU" dirty="0" err="1"/>
              <a:t>Routers</a:t>
            </a:r>
            <a:r>
              <a:rPr lang="hu-HU" dirty="0"/>
              <a:t>, ABR) nevezzük.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9F0D478-407D-4092-B79B-230552681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5277859"/>
            <a:ext cx="4678317" cy="1079611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550BC65-D04F-4CD1-94A4-7E5AF6230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798" y="5116839"/>
            <a:ext cx="4147027" cy="1401649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EF083B3-C14B-44BE-837E-830512341D14}"/>
              </a:ext>
            </a:extLst>
          </p:cNvPr>
          <p:cNvSpPr txBox="1"/>
          <p:nvPr/>
        </p:nvSpPr>
        <p:spPr>
          <a:xfrm>
            <a:off x="2688898" y="4708857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Egyterületű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EE2D80D-E8DA-43FB-9E31-B009405E906D}"/>
              </a:ext>
            </a:extLst>
          </p:cNvPr>
          <p:cNvSpPr txBox="1"/>
          <p:nvPr/>
        </p:nvSpPr>
        <p:spPr>
          <a:xfrm>
            <a:off x="8061353" y="4615027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Többterületű</a:t>
            </a:r>
          </a:p>
        </p:txBody>
      </p:sp>
    </p:spTree>
    <p:extLst>
      <p:ext uri="{BB962C8B-B14F-4D97-AF65-F5344CB8AC3E}">
        <p14:creationId xmlns:p14="http://schemas.microsoft.com/office/powerpoint/2010/main" val="1366029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AEDA6E-3CD0-4DB6-BDBD-86159A7A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OSPFv3</a:t>
            </a:r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DD6A43-7016-48A2-9940-85AB92702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325100"/>
            <a:ext cx="11692624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u-HU" sz="1800" dirty="0"/>
              <a:t>Az </a:t>
            </a:r>
            <a:r>
              <a:rPr lang="hu-HU" sz="1800" b="1" dirty="0"/>
              <a:t>OSPFv3</a:t>
            </a:r>
            <a:r>
              <a:rPr lang="hu-HU" sz="1800" dirty="0"/>
              <a:t> az </a:t>
            </a:r>
            <a:r>
              <a:rPr lang="hu-HU" sz="1800" b="1" dirty="0"/>
              <a:t>OSPF (Open </a:t>
            </a:r>
            <a:r>
              <a:rPr lang="hu-HU" sz="1800" b="1" dirty="0" err="1"/>
              <a:t>Shortest</a:t>
            </a:r>
            <a:r>
              <a:rPr lang="hu-HU" sz="1800" b="1" dirty="0"/>
              <a:t> </a:t>
            </a:r>
            <a:r>
              <a:rPr lang="hu-HU" sz="1800" b="1" dirty="0" err="1"/>
              <a:t>Path</a:t>
            </a:r>
            <a:r>
              <a:rPr lang="hu-HU" sz="1800" b="1" dirty="0"/>
              <a:t> </a:t>
            </a:r>
            <a:r>
              <a:rPr lang="hu-HU" sz="1800" b="1" dirty="0" err="1"/>
              <a:t>First</a:t>
            </a:r>
            <a:r>
              <a:rPr lang="hu-HU" sz="1800" b="1" dirty="0"/>
              <a:t>)</a:t>
            </a:r>
            <a:r>
              <a:rPr lang="hu-HU" sz="1800" dirty="0"/>
              <a:t> protokoll </a:t>
            </a:r>
            <a:r>
              <a:rPr lang="hu-HU" sz="1800" b="1" dirty="0"/>
              <a:t>IPv6-os verziója</a:t>
            </a:r>
            <a:r>
              <a:rPr lang="hu-HU" sz="1800" dirty="0"/>
              <a:t>.</a:t>
            </a:r>
            <a:br>
              <a:rPr lang="hu-HU" sz="1800" dirty="0"/>
            </a:br>
            <a:endParaRPr lang="hu-HU" sz="1800" dirty="0"/>
          </a:p>
          <a:p>
            <a:r>
              <a:rPr lang="hu-HU" sz="1800" b="1" dirty="0"/>
              <a:t>OSPFv3:</a:t>
            </a:r>
          </a:p>
          <a:p>
            <a:r>
              <a:rPr lang="hu-HU" sz="1800" dirty="0"/>
              <a:t>Az </a:t>
            </a:r>
            <a:r>
              <a:rPr lang="hu-HU" sz="1800" b="1" dirty="0"/>
              <a:t>IPv6 hálózatokhoz</a:t>
            </a:r>
            <a:r>
              <a:rPr lang="hu-HU" sz="1800" dirty="0"/>
              <a:t> készült irányító protokoll.</a:t>
            </a:r>
          </a:p>
          <a:p>
            <a:r>
              <a:rPr lang="hu-HU" sz="1800" dirty="0"/>
              <a:t>Az alapműködése (link-</a:t>
            </a:r>
            <a:r>
              <a:rPr lang="hu-HU" sz="1800" dirty="0" err="1"/>
              <a:t>state</a:t>
            </a:r>
            <a:r>
              <a:rPr lang="hu-HU" sz="1800" dirty="0"/>
              <a:t>, </a:t>
            </a:r>
            <a:r>
              <a:rPr lang="hu-HU" sz="1800" dirty="0" err="1"/>
              <a:t>area</a:t>
            </a:r>
            <a:r>
              <a:rPr lang="hu-HU" sz="1800" dirty="0"/>
              <a:t>-k stb.) </a:t>
            </a:r>
            <a:r>
              <a:rPr lang="hu-HU" sz="1800" b="1" dirty="0"/>
              <a:t>ugyanaz</a:t>
            </a:r>
            <a:r>
              <a:rPr lang="hu-HU" sz="1800" dirty="0"/>
              <a:t>, mint OSPFv2-ben.</a:t>
            </a:r>
          </a:p>
          <a:p>
            <a:r>
              <a:rPr lang="hu-HU" sz="1800" b="1" dirty="0" err="1"/>
              <a:t>Interface</a:t>
            </a:r>
            <a:r>
              <a:rPr lang="hu-HU" sz="1800" b="1" dirty="0"/>
              <a:t>-alapú</a:t>
            </a:r>
            <a:r>
              <a:rPr lang="hu-HU" sz="1800" dirty="0"/>
              <a:t> működést használ: nem a hálózati alhálózathoz, hanem az interfészhez kapcsolódik.</a:t>
            </a:r>
          </a:p>
          <a:p>
            <a:r>
              <a:rPr lang="hu-HU" sz="1800" dirty="0"/>
              <a:t>Az </a:t>
            </a:r>
            <a:r>
              <a:rPr lang="hu-HU" sz="1800" b="1" dirty="0" err="1"/>
              <a:t>autentikációt</a:t>
            </a:r>
            <a:r>
              <a:rPr lang="hu-HU" sz="1800" b="1" dirty="0"/>
              <a:t> és biztonságot</a:t>
            </a:r>
            <a:r>
              <a:rPr lang="hu-HU" sz="1800" dirty="0"/>
              <a:t> az </a:t>
            </a:r>
            <a:r>
              <a:rPr lang="hu-HU" sz="1800" b="1" dirty="0"/>
              <a:t>IPv6 </a:t>
            </a:r>
            <a:r>
              <a:rPr lang="hu-HU" sz="1800" b="1" dirty="0" err="1"/>
              <a:t>IPsec</a:t>
            </a:r>
            <a:r>
              <a:rPr lang="hu-HU" sz="1800" dirty="0"/>
              <a:t> biztosítja, nem az OSPF-ben van beépítve.</a:t>
            </a:r>
          </a:p>
          <a:p>
            <a:r>
              <a:rPr lang="hu-HU" sz="1800" b="1" dirty="0"/>
              <a:t>Új LSA-típusokat</a:t>
            </a:r>
            <a:r>
              <a:rPr lang="hu-HU" sz="1800" dirty="0"/>
              <a:t> vezetett be az IPv6-címek kezeléséhez.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hu-HU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hu-HU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hu-HU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hu-HU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hu-HU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u-HU" sz="1800" dirty="0"/>
              <a:t>LSA-&gt;információs üzenetek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7E29923-0429-4D95-9B74-F558EE5EB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533" y="4341083"/>
            <a:ext cx="6358467" cy="25169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47343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EBB4E7-C0AE-4A67-9729-FE4E286B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OSPF-csomagtípusok</a:t>
            </a:r>
            <a:endParaRPr lang="hu-HU" dirty="0"/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41D5AD61-171D-4D48-AECB-58B29F964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399049"/>
              </p:ext>
            </p:extLst>
          </p:nvPr>
        </p:nvGraphicFramePr>
        <p:xfrm>
          <a:off x="423335" y="1549400"/>
          <a:ext cx="5511798" cy="5010047"/>
        </p:xfrm>
        <a:graphic>
          <a:graphicData uri="http://schemas.openxmlformats.org/drawingml/2006/table">
            <a:tbl>
              <a:tblPr/>
              <a:tblGrid>
                <a:gridCol w="1837266">
                  <a:extLst>
                    <a:ext uri="{9D8B030D-6E8A-4147-A177-3AD203B41FA5}">
                      <a16:colId xmlns:a16="http://schemas.microsoft.com/office/drawing/2014/main" val="2463386153"/>
                    </a:ext>
                  </a:extLst>
                </a:gridCol>
                <a:gridCol w="1837266">
                  <a:extLst>
                    <a:ext uri="{9D8B030D-6E8A-4147-A177-3AD203B41FA5}">
                      <a16:colId xmlns:a16="http://schemas.microsoft.com/office/drawing/2014/main" val="1738571292"/>
                    </a:ext>
                  </a:extLst>
                </a:gridCol>
                <a:gridCol w="1837266">
                  <a:extLst>
                    <a:ext uri="{9D8B030D-6E8A-4147-A177-3AD203B41FA5}">
                      <a16:colId xmlns:a16="http://schemas.microsoft.com/office/drawing/2014/main" val="115751720"/>
                    </a:ext>
                  </a:extLst>
                </a:gridCol>
              </a:tblGrid>
              <a:tr h="191576">
                <a:tc>
                  <a:txBody>
                    <a:bodyPr/>
                    <a:lstStyle/>
                    <a:p>
                      <a:r>
                        <a:rPr lang="hu-HU" sz="1050" b="1"/>
                        <a:t>Típus száma</a:t>
                      </a:r>
                      <a:endParaRPr lang="hu-HU" sz="105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b="1"/>
                        <a:t>Csomag neve</a:t>
                      </a:r>
                      <a:endParaRPr lang="hu-HU" sz="105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b="1"/>
                        <a:t>Feladata</a:t>
                      </a:r>
                      <a:endParaRPr lang="hu-HU" sz="105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alpha val="1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632061"/>
                  </a:ext>
                </a:extLst>
              </a:tr>
              <a:tr h="1208552">
                <a:tc>
                  <a:txBody>
                    <a:bodyPr/>
                    <a:lstStyle/>
                    <a:p>
                      <a:r>
                        <a:rPr lang="hu-HU" sz="1050" b="1" dirty="0"/>
                        <a:t>1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b="1" dirty="0"/>
                        <a:t>Hello </a:t>
                      </a:r>
                      <a:r>
                        <a:rPr lang="hu-HU" sz="1050" b="1" dirty="0" err="1"/>
                        <a:t>Packet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dirty="0"/>
                        <a:t>Szomszédok felderítése és kapcsolat (</a:t>
                      </a:r>
                      <a:r>
                        <a:rPr lang="hu-HU" sz="1050" dirty="0" err="1"/>
                        <a:t>adjacency</a:t>
                      </a:r>
                      <a:r>
                        <a:rPr lang="hu-HU" sz="1050" dirty="0"/>
                        <a:t>) fenntartása. A routerek ezzel azonosítják egymást és állapítják meg, hogy kompatibilisek-e.</a:t>
                      </a:r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09659"/>
                  </a:ext>
                </a:extLst>
              </a:tr>
              <a:tr h="917988">
                <a:tc>
                  <a:txBody>
                    <a:bodyPr/>
                    <a:lstStyle/>
                    <a:p>
                      <a:r>
                        <a:rPr lang="hu-HU" sz="1050" b="1" dirty="0"/>
                        <a:t>2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b="1" dirty="0" err="1"/>
                        <a:t>Database</a:t>
                      </a:r>
                      <a:r>
                        <a:rPr lang="hu-HU" sz="1050" b="1" dirty="0"/>
                        <a:t> </a:t>
                      </a:r>
                      <a:r>
                        <a:rPr lang="hu-HU" sz="1050" b="1" dirty="0" err="1"/>
                        <a:t>Description</a:t>
                      </a:r>
                      <a:r>
                        <a:rPr lang="hu-HU" sz="1050" b="1" dirty="0"/>
                        <a:t> (DBD) </a:t>
                      </a:r>
                      <a:r>
                        <a:rPr lang="hu-HU" sz="1050" b="1" dirty="0" err="1"/>
                        <a:t>Packet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dirty="0"/>
                        <a:t>Az LSDB (Link-</a:t>
                      </a:r>
                      <a:r>
                        <a:rPr lang="hu-HU" sz="1050" dirty="0" err="1"/>
                        <a:t>State</a:t>
                      </a:r>
                      <a:r>
                        <a:rPr lang="hu-HU" sz="1050" dirty="0"/>
                        <a:t> </a:t>
                      </a:r>
                      <a:r>
                        <a:rPr lang="hu-HU" sz="1050" dirty="0" err="1"/>
                        <a:t>Database</a:t>
                      </a:r>
                      <a:r>
                        <a:rPr lang="hu-HU" sz="1050" dirty="0"/>
                        <a:t>) összefoglalását küldi. Ezzel ellenőrzik, hogy mely LSA-k hiányoznak vagy elavultak.</a:t>
                      </a:r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400278"/>
                  </a:ext>
                </a:extLst>
              </a:tr>
              <a:tr h="772705">
                <a:tc>
                  <a:txBody>
                    <a:bodyPr/>
                    <a:lstStyle/>
                    <a:p>
                      <a:r>
                        <a:rPr lang="hu-HU" sz="1050" b="1" dirty="0"/>
                        <a:t>3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b="1" dirty="0"/>
                        <a:t>Link-</a:t>
                      </a:r>
                      <a:r>
                        <a:rPr lang="hu-HU" sz="1050" b="1" dirty="0" err="1"/>
                        <a:t>State</a:t>
                      </a:r>
                      <a:r>
                        <a:rPr lang="hu-HU" sz="1050" b="1" dirty="0"/>
                        <a:t> </a:t>
                      </a:r>
                      <a:r>
                        <a:rPr lang="hu-HU" sz="1050" b="1" dirty="0" err="1"/>
                        <a:t>Request</a:t>
                      </a:r>
                      <a:r>
                        <a:rPr lang="hu-HU" sz="1050" b="1" dirty="0"/>
                        <a:t> (LSR) </a:t>
                      </a:r>
                      <a:r>
                        <a:rPr lang="hu-HU" sz="1050" b="1" dirty="0" err="1"/>
                        <a:t>Packet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dirty="0"/>
                        <a:t>Kérés, amellyel egy router konkrét LSA-t kér be a szomszédtól, ha hiányzik vagy régi az adatbázisban.</a:t>
                      </a:r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303589"/>
                  </a:ext>
                </a:extLst>
              </a:tr>
              <a:tr h="1063270">
                <a:tc>
                  <a:txBody>
                    <a:bodyPr/>
                    <a:lstStyle/>
                    <a:p>
                      <a:r>
                        <a:rPr lang="hu-HU" sz="1050" b="1" dirty="0"/>
                        <a:t>4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b="1" dirty="0"/>
                        <a:t>Link-</a:t>
                      </a:r>
                      <a:r>
                        <a:rPr lang="hu-HU" sz="1050" b="1" dirty="0" err="1"/>
                        <a:t>State</a:t>
                      </a:r>
                      <a:r>
                        <a:rPr lang="hu-HU" sz="1050" b="1" dirty="0"/>
                        <a:t> Update (LSU) </a:t>
                      </a:r>
                      <a:r>
                        <a:rPr lang="hu-HU" sz="1050" b="1" dirty="0" err="1"/>
                        <a:t>Packet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dirty="0"/>
                        <a:t>A tényleges LSA-információkat tartalmazza, ezzel frissítik a routerek az LSDB-t. (Több LSA-t is tartalmazhat egy csomagban.)</a:t>
                      </a:r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883179"/>
                  </a:ext>
                </a:extLst>
              </a:tr>
              <a:tr h="772705">
                <a:tc>
                  <a:txBody>
                    <a:bodyPr/>
                    <a:lstStyle/>
                    <a:p>
                      <a:r>
                        <a:rPr lang="hu-HU" sz="1050" b="1" dirty="0"/>
                        <a:t>5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b="1" dirty="0"/>
                        <a:t>Link-</a:t>
                      </a:r>
                      <a:r>
                        <a:rPr lang="hu-HU" sz="1050" b="1" dirty="0" err="1"/>
                        <a:t>State</a:t>
                      </a:r>
                      <a:r>
                        <a:rPr lang="hu-HU" sz="1050" b="1" dirty="0"/>
                        <a:t> </a:t>
                      </a:r>
                      <a:r>
                        <a:rPr lang="hu-HU" sz="1050" b="1" dirty="0" err="1"/>
                        <a:t>Acknowledgment</a:t>
                      </a:r>
                      <a:r>
                        <a:rPr lang="hu-HU" sz="1050" b="1" dirty="0"/>
                        <a:t> </a:t>
                      </a:r>
                    </a:p>
                    <a:p>
                      <a:r>
                        <a:rPr lang="hu-HU" sz="1050" b="1" dirty="0"/>
                        <a:t>(</a:t>
                      </a:r>
                      <a:r>
                        <a:rPr lang="hu-HU" sz="1050" b="1" dirty="0" err="1"/>
                        <a:t>LSAck</a:t>
                      </a:r>
                      <a:r>
                        <a:rPr lang="hu-HU" sz="1050" b="1" dirty="0"/>
                        <a:t>) </a:t>
                      </a:r>
                      <a:r>
                        <a:rPr lang="hu-HU" sz="1050" b="1" dirty="0" err="1"/>
                        <a:t>Packet</a:t>
                      </a:r>
                      <a:endParaRPr lang="hu-HU" sz="1050" dirty="0"/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1050" dirty="0"/>
                        <a:t>Visszaigazolás arról, hogy egy router megkapta az LSU-t (megelőzi az adatismétlést).</a:t>
                      </a:r>
                    </a:p>
                  </a:txBody>
                  <a:tcPr marL="43706" marR="43706" marT="21853" marB="21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868260"/>
                  </a:ext>
                </a:extLst>
              </a:tr>
            </a:tbl>
          </a:graphicData>
        </a:graphic>
      </p:graphicFrame>
      <p:sp>
        <p:nvSpPr>
          <p:cNvPr id="5" name="Szövegdoboz 4">
            <a:extLst>
              <a:ext uri="{FF2B5EF4-FFF2-40B4-BE49-F238E27FC236}">
                <a16:creationId xmlns:a16="http://schemas.microsoft.com/office/drawing/2014/main" id="{81CA6A68-7814-4F62-BE3B-A34965DF4C97}"/>
              </a:ext>
            </a:extLst>
          </p:cNvPr>
          <p:cNvSpPr txBox="1"/>
          <p:nvPr/>
        </p:nvSpPr>
        <p:spPr>
          <a:xfrm>
            <a:off x="7628467" y="2696429"/>
            <a:ext cx="34034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Az </a:t>
            </a:r>
            <a:r>
              <a:rPr lang="hu-HU" b="1" dirty="0"/>
              <a:t>OSPF-csomagtípusok</a:t>
            </a:r>
            <a:r>
              <a:rPr lang="hu-HU" dirty="0"/>
              <a:t> biztosítják, hogy a routerek </a:t>
            </a:r>
            <a:r>
              <a:rPr lang="hu-HU" b="1" dirty="0"/>
              <a:t>felismerjék egymást (Hello)</a:t>
            </a:r>
            <a:r>
              <a:rPr lang="hu-HU" dirty="0"/>
              <a:t>, </a:t>
            </a:r>
            <a:r>
              <a:rPr lang="hu-HU" b="1" dirty="0"/>
              <a:t>összehasonlítsák az adatbázisaikat (DBD, LSR)</a:t>
            </a:r>
            <a:r>
              <a:rPr lang="hu-HU" dirty="0"/>
              <a:t>, </a:t>
            </a:r>
            <a:r>
              <a:rPr lang="hu-HU" b="1" dirty="0"/>
              <a:t>frissítsék az információkat (LSU)</a:t>
            </a:r>
            <a:r>
              <a:rPr lang="hu-HU" dirty="0"/>
              <a:t>, </a:t>
            </a:r>
          </a:p>
          <a:p>
            <a:r>
              <a:rPr lang="hu-HU" dirty="0"/>
              <a:t>és </a:t>
            </a:r>
            <a:r>
              <a:rPr lang="hu-HU" b="1" dirty="0"/>
              <a:t>visszaigazolják a fogadást (</a:t>
            </a:r>
            <a:r>
              <a:rPr lang="hu-HU" b="1" dirty="0" err="1"/>
              <a:t>LSAck</a:t>
            </a:r>
            <a:r>
              <a:rPr lang="hu-HU" b="1" dirty="0"/>
              <a:t>)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7956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3ECF46-D01F-445E-A20E-47B6FD61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 állapotok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A1637DC6-BCB2-4F1F-A6F3-07BDA85F6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756961"/>
              </p:ext>
            </p:extLst>
          </p:nvPr>
        </p:nvGraphicFramePr>
        <p:xfrm>
          <a:off x="1325032" y="1570103"/>
          <a:ext cx="9541936" cy="4835179"/>
        </p:xfrm>
        <a:graphic>
          <a:graphicData uri="http://schemas.openxmlformats.org/drawingml/2006/table">
            <a:tbl>
              <a:tblPr/>
              <a:tblGrid>
                <a:gridCol w="4770968">
                  <a:extLst>
                    <a:ext uri="{9D8B030D-6E8A-4147-A177-3AD203B41FA5}">
                      <a16:colId xmlns:a16="http://schemas.microsoft.com/office/drawing/2014/main" val="2456554904"/>
                    </a:ext>
                  </a:extLst>
                </a:gridCol>
                <a:gridCol w="4770968">
                  <a:extLst>
                    <a:ext uri="{9D8B030D-6E8A-4147-A177-3AD203B41FA5}">
                      <a16:colId xmlns:a16="http://schemas.microsoft.com/office/drawing/2014/main" val="2667474010"/>
                    </a:ext>
                  </a:extLst>
                </a:gridCol>
              </a:tblGrid>
              <a:tr h="223182">
                <a:tc>
                  <a:txBody>
                    <a:bodyPr/>
                    <a:lstStyle/>
                    <a:p>
                      <a:r>
                        <a:rPr lang="hu-HU" sz="1200" b="1"/>
                        <a:t>Állapot</a:t>
                      </a:r>
                      <a:endParaRPr lang="hu-HU" sz="120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b="1"/>
                        <a:t>Jellemzés</a:t>
                      </a:r>
                      <a:endParaRPr lang="hu-HU" sz="120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492163"/>
                  </a:ext>
                </a:extLst>
              </a:tr>
              <a:tr h="523488">
                <a:tc>
                  <a:txBody>
                    <a:bodyPr/>
                    <a:lstStyle/>
                    <a:p>
                      <a:r>
                        <a:rPr lang="hu-HU" sz="1200" b="1" dirty="0"/>
                        <a:t>1. Down</a:t>
                      </a:r>
                      <a:endParaRPr lang="hu-HU" sz="1200" dirty="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Nincs kapcsolat a szomszéddal. A router még nem kapott Hello üzenetet.</a:t>
                      </a:r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631560"/>
                  </a:ext>
                </a:extLst>
              </a:tr>
              <a:tr h="680534">
                <a:tc>
                  <a:txBody>
                    <a:bodyPr/>
                    <a:lstStyle/>
                    <a:p>
                      <a:r>
                        <a:rPr lang="hu-HU" sz="1200" b="1" dirty="0"/>
                        <a:t>2. </a:t>
                      </a:r>
                      <a:r>
                        <a:rPr lang="hu-HU" sz="1200" b="1" dirty="0" err="1"/>
                        <a:t>Init</a:t>
                      </a:r>
                      <a:endParaRPr lang="hu-HU" sz="1200" dirty="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/>
                        <a:t>A router már kapott Hello-t a szomszédtól, de </a:t>
                      </a:r>
                      <a:r>
                        <a:rPr lang="hu-HU" sz="1200" b="1"/>
                        <a:t>még nem látja magát</a:t>
                      </a:r>
                      <a:r>
                        <a:rPr lang="hu-HU" sz="1200"/>
                        <a:t> a másik router Hello üzenetében. (A kapcsolat még egyirányú.)</a:t>
                      </a:r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215850"/>
                  </a:ext>
                </a:extLst>
              </a:tr>
              <a:tr h="680534">
                <a:tc>
                  <a:txBody>
                    <a:bodyPr/>
                    <a:lstStyle/>
                    <a:p>
                      <a:r>
                        <a:rPr lang="hu-HU" sz="1200" b="1"/>
                        <a:t>3. 2-Way</a:t>
                      </a:r>
                      <a:endParaRPr lang="hu-HU" sz="120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Kétirányú kapcsolat létrejött — mindkét router látja egymást. Ezen a ponton </a:t>
                      </a:r>
                      <a:r>
                        <a:rPr lang="hu-HU" sz="1200" b="1" dirty="0"/>
                        <a:t>DR/BDR választás</a:t>
                      </a:r>
                      <a:r>
                        <a:rPr lang="hu-HU" sz="1200" dirty="0"/>
                        <a:t> történik (több-hozzáférésű hálózatokban).</a:t>
                      </a:r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091944"/>
                  </a:ext>
                </a:extLst>
              </a:tr>
              <a:tr h="680534">
                <a:tc>
                  <a:txBody>
                    <a:bodyPr/>
                    <a:lstStyle/>
                    <a:p>
                      <a:r>
                        <a:rPr lang="hu-HU" sz="1200" b="1"/>
                        <a:t>4. ExStart</a:t>
                      </a:r>
                      <a:endParaRPr lang="hu-HU" sz="120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/>
                        <a:t>A routerek megkezdik az LSDB (Link-State Database) szinkronizálását. Eldöntik, ki kezdi a DBD (Database Description) csomagcserét.</a:t>
                      </a:r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88447"/>
                  </a:ext>
                </a:extLst>
              </a:tr>
              <a:tr h="523488">
                <a:tc>
                  <a:txBody>
                    <a:bodyPr/>
                    <a:lstStyle/>
                    <a:p>
                      <a:r>
                        <a:rPr lang="hu-HU" sz="1200" b="1"/>
                        <a:t>5. Exchange</a:t>
                      </a:r>
                      <a:endParaRPr lang="hu-HU" sz="120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/>
                        <a:t>A routerek </a:t>
                      </a:r>
                      <a:r>
                        <a:rPr lang="hu-HU" sz="1200" b="1"/>
                        <a:t>DBD csomagokat</a:t>
                      </a:r>
                      <a:r>
                        <a:rPr lang="hu-HU" sz="1200"/>
                        <a:t> cserélnek, amelyek tartalmazzák az LSDB összefoglalóját.</a:t>
                      </a:r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239413"/>
                  </a:ext>
                </a:extLst>
              </a:tr>
              <a:tr h="837581">
                <a:tc>
                  <a:txBody>
                    <a:bodyPr/>
                    <a:lstStyle/>
                    <a:p>
                      <a:r>
                        <a:rPr lang="hu-HU" sz="1200" b="1"/>
                        <a:t>6. Loading</a:t>
                      </a:r>
                      <a:endParaRPr lang="hu-HU" sz="120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/>
                        <a:t>A router </a:t>
                      </a:r>
                      <a:r>
                        <a:rPr lang="hu-HU" sz="1200" b="1"/>
                        <a:t>LSR (Link-State Request)</a:t>
                      </a:r>
                      <a:r>
                        <a:rPr lang="hu-HU" sz="1200"/>
                        <a:t> üzeneteket küld, ha hiányzik vagy elavult adatot talál, majd </a:t>
                      </a:r>
                      <a:r>
                        <a:rPr lang="hu-HU" sz="1200" b="1"/>
                        <a:t>LSU (Link-State Update)</a:t>
                      </a:r>
                      <a:r>
                        <a:rPr lang="hu-HU" sz="1200"/>
                        <a:t> csomagokkal frissítik az adatbázist.</a:t>
                      </a:r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90424"/>
                  </a:ext>
                </a:extLst>
              </a:tr>
              <a:tr h="680534">
                <a:tc>
                  <a:txBody>
                    <a:bodyPr/>
                    <a:lstStyle/>
                    <a:p>
                      <a:r>
                        <a:rPr lang="hu-HU" sz="1200" b="1"/>
                        <a:t>7. Full</a:t>
                      </a:r>
                      <a:endParaRPr lang="hu-HU" sz="1200"/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Az LSDB-k teljesen </a:t>
                      </a:r>
                      <a:r>
                        <a:rPr lang="hu-HU" sz="1200" b="1" dirty="0"/>
                        <a:t>szinkronban vannak</a:t>
                      </a:r>
                      <a:r>
                        <a:rPr lang="hu-HU" sz="1200" dirty="0"/>
                        <a:t>, a szomszédság teljesen kiépült. Ekkor a routerek készen állnak az útvonal-számításra (SPF).</a:t>
                      </a:r>
                    </a:p>
                  </a:txBody>
                  <a:tcPr marL="45606" marR="45606" marT="22803" marB="22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85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467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9E5425-F8E8-4A90-8BDE-4EE68ACC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207185"/>
            <a:ext cx="10343622" cy="478615"/>
          </a:xfrm>
        </p:spPr>
        <p:txBody>
          <a:bodyPr/>
          <a:lstStyle/>
          <a:p>
            <a:r>
              <a:rPr lang="hu-HU" dirty="0"/>
              <a:t>Szomszédsági kapcsolatok kialakítása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734A2D-46C0-48E6-A005-37C20E1D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956733"/>
            <a:ext cx="8946541" cy="5901267"/>
          </a:xfrm>
        </p:spPr>
        <p:txBody>
          <a:bodyPr>
            <a:normAutofit fontScale="92500" lnSpcReduction="10000"/>
          </a:bodyPr>
          <a:lstStyle/>
          <a:p>
            <a:r>
              <a:rPr lang="hu-HU" sz="1200" b="1" dirty="0"/>
              <a:t>Folyamat lépésről lépésre:</a:t>
            </a:r>
          </a:p>
          <a:p>
            <a:r>
              <a:rPr lang="hu-HU" sz="1200" b="1" dirty="0"/>
              <a:t>Hello üzenetek küldése</a:t>
            </a:r>
            <a:endParaRPr lang="hu-HU" sz="1200" dirty="0"/>
          </a:p>
          <a:p>
            <a:pPr lvl="1"/>
            <a:r>
              <a:rPr lang="hu-HU" sz="1200" dirty="0"/>
              <a:t>Minden OSPF-router periodikusan (pl. 10 mp Etherneten) </a:t>
            </a:r>
            <a:r>
              <a:rPr lang="hu-HU" sz="1200" b="1" dirty="0"/>
              <a:t>Hello csomagokat</a:t>
            </a:r>
            <a:r>
              <a:rPr lang="hu-HU" sz="1200" dirty="0"/>
              <a:t> küld a szomszédok felé.</a:t>
            </a:r>
          </a:p>
          <a:p>
            <a:pPr lvl="1"/>
            <a:r>
              <a:rPr lang="hu-HU" sz="1200" dirty="0"/>
              <a:t>A Hello üzenet tartalmazza: Router ID, Hello idő, </a:t>
            </a:r>
            <a:r>
              <a:rPr lang="hu-HU" sz="1200" dirty="0" err="1"/>
              <a:t>Dead</a:t>
            </a:r>
            <a:r>
              <a:rPr lang="hu-HU" sz="1200" dirty="0"/>
              <a:t> </a:t>
            </a:r>
            <a:r>
              <a:rPr lang="hu-HU" sz="1200" dirty="0" err="1"/>
              <a:t>interval</a:t>
            </a:r>
            <a:r>
              <a:rPr lang="hu-HU" sz="1200" dirty="0"/>
              <a:t>, DR/BDR információk.</a:t>
            </a:r>
          </a:p>
          <a:p>
            <a:r>
              <a:rPr lang="hu-HU" sz="1200" b="1" dirty="0" err="1"/>
              <a:t>Init</a:t>
            </a:r>
            <a:r>
              <a:rPr lang="hu-HU" sz="1200" b="1" dirty="0"/>
              <a:t> állapot</a:t>
            </a:r>
            <a:endParaRPr lang="hu-HU" sz="1200" dirty="0"/>
          </a:p>
          <a:p>
            <a:pPr lvl="1"/>
            <a:r>
              <a:rPr lang="hu-HU" sz="1200" dirty="0"/>
              <a:t>Ha a router </a:t>
            </a:r>
            <a:r>
              <a:rPr lang="hu-HU" sz="1200" b="1" dirty="0"/>
              <a:t>kap Hello-t</a:t>
            </a:r>
            <a:r>
              <a:rPr lang="hu-HU" sz="1200" dirty="0"/>
              <a:t> egy szomszédtól, de még </a:t>
            </a:r>
            <a:r>
              <a:rPr lang="hu-HU" sz="1200" b="1" dirty="0"/>
              <a:t>nem látja magát</a:t>
            </a:r>
            <a:r>
              <a:rPr lang="hu-HU" sz="1200" dirty="0"/>
              <a:t> a másik router Hello-</a:t>
            </a:r>
            <a:r>
              <a:rPr lang="hu-HU" sz="1200" dirty="0" err="1"/>
              <a:t>jában</a:t>
            </a:r>
            <a:r>
              <a:rPr lang="hu-HU" sz="1200" dirty="0"/>
              <a:t>, a kapcsolat </a:t>
            </a:r>
            <a:r>
              <a:rPr lang="hu-HU" sz="1200" b="1" dirty="0"/>
              <a:t>egyirányú</a:t>
            </a:r>
            <a:r>
              <a:rPr lang="hu-HU" sz="1200" dirty="0"/>
              <a:t>.</a:t>
            </a:r>
          </a:p>
          <a:p>
            <a:r>
              <a:rPr lang="hu-HU" sz="1200" b="1" dirty="0"/>
              <a:t>2-Way állapot</a:t>
            </a:r>
            <a:endParaRPr lang="hu-HU" sz="1200" dirty="0"/>
          </a:p>
          <a:p>
            <a:pPr lvl="1"/>
            <a:r>
              <a:rPr lang="hu-HU" sz="1200" dirty="0"/>
              <a:t>Mindkét router </a:t>
            </a:r>
            <a:r>
              <a:rPr lang="hu-HU" sz="1200" b="1" dirty="0"/>
              <a:t>látja egymást</a:t>
            </a:r>
            <a:r>
              <a:rPr lang="hu-HU" sz="1200" dirty="0"/>
              <a:t> a Hello üzenetekben → </a:t>
            </a:r>
            <a:r>
              <a:rPr lang="hu-HU" sz="1200" dirty="0" err="1"/>
              <a:t>kétirányú</a:t>
            </a:r>
            <a:r>
              <a:rPr lang="hu-HU" sz="1200" dirty="0"/>
              <a:t> kapcsolat.</a:t>
            </a:r>
          </a:p>
          <a:p>
            <a:pPr lvl="1"/>
            <a:r>
              <a:rPr lang="hu-HU" sz="1200" dirty="0"/>
              <a:t>Több-hozzáférésű hálózatokban ekkor történik a </a:t>
            </a:r>
            <a:r>
              <a:rPr lang="hu-HU" sz="1200" b="1" dirty="0"/>
              <a:t>DR (</a:t>
            </a:r>
            <a:r>
              <a:rPr lang="hu-HU" sz="1200" b="1" dirty="0" err="1"/>
              <a:t>Designated</a:t>
            </a:r>
            <a:r>
              <a:rPr lang="hu-HU" sz="1200" b="1" dirty="0"/>
              <a:t> Router) és BDR (Backup DR) választás</a:t>
            </a:r>
            <a:r>
              <a:rPr lang="hu-HU" sz="1200" dirty="0"/>
              <a:t>.</a:t>
            </a:r>
          </a:p>
          <a:p>
            <a:r>
              <a:rPr lang="hu-HU" sz="1200" b="1" dirty="0" err="1"/>
              <a:t>ExStart</a:t>
            </a:r>
            <a:r>
              <a:rPr lang="hu-HU" sz="1200" b="1" dirty="0"/>
              <a:t> állapot</a:t>
            </a:r>
            <a:endParaRPr lang="hu-HU" sz="1200" dirty="0"/>
          </a:p>
          <a:p>
            <a:pPr lvl="1"/>
            <a:r>
              <a:rPr lang="hu-HU" sz="1200" dirty="0"/>
              <a:t>A routerek </a:t>
            </a:r>
            <a:r>
              <a:rPr lang="hu-HU" sz="1200" b="1" dirty="0"/>
              <a:t>elkezdik az LSDB szinkronizálását</a:t>
            </a:r>
            <a:r>
              <a:rPr lang="hu-HU" sz="1200" dirty="0"/>
              <a:t>.</a:t>
            </a:r>
          </a:p>
          <a:p>
            <a:pPr lvl="1"/>
            <a:r>
              <a:rPr lang="hu-HU" sz="1200" dirty="0"/>
              <a:t>Eldöntik, ki kezdi a </a:t>
            </a:r>
            <a:r>
              <a:rPr lang="hu-HU" sz="1200" b="1" dirty="0"/>
              <a:t>DBD (</a:t>
            </a:r>
            <a:r>
              <a:rPr lang="hu-HU" sz="1200" b="1" dirty="0" err="1"/>
              <a:t>Database</a:t>
            </a:r>
            <a:r>
              <a:rPr lang="hu-HU" sz="1200" b="1" dirty="0"/>
              <a:t> </a:t>
            </a:r>
            <a:r>
              <a:rPr lang="hu-HU" sz="1200" b="1" dirty="0" err="1"/>
              <a:t>Description</a:t>
            </a:r>
            <a:r>
              <a:rPr lang="hu-HU" sz="1200" b="1" dirty="0"/>
              <a:t>)</a:t>
            </a:r>
            <a:r>
              <a:rPr lang="hu-HU" sz="1200" dirty="0"/>
              <a:t> csomagcserét.</a:t>
            </a:r>
          </a:p>
          <a:p>
            <a:r>
              <a:rPr lang="hu-HU" sz="1200" b="1" dirty="0"/>
              <a:t>Exchange állapot</a:t>
            </a:r>
            <a:endParaRPr lang="hu-HU" sz="1200" dirty="0"/>
          </a:p>
          <a:p>
            <a:pPr lvl="1"/>
            <a:r>
              <a:rPr lang="hu-HU" sz="1200" dirty="0"/>
              <a:t>A routerek </a:t>
            </a:r>
            <a:r>
              <a:rPr lang="hu-HU" sz="1200" b="1" dirty="0"/>
              <a:t>DBD csomagokat</a:t>
            </a:r>
            <a:r>
              <a:rPr lang="hu-HU" sz="1200" dirty="0"/>
              <a:t> cserélnek, amelyek tartalmazzák az LSDB összefoglalóit.</a:t>
            </a:r>
          </a:p>
          <a:p>
            <a:pPr lvl="1"/>
            <a:r>
              <a:rPr lang="hu-HU" sz="1200" dirty="0"/>
              <a:t>Kiderül, hogy mely LSA-k hiányoznak vagy frissebbek a másik routernél.</a:t>
            </a:r>
          </a:p>
          <a:p>
            <a:r>
              <a:rPr lang="hu-HU" sz="1200" b="1" dirty="0" err="1"/>
              <a:t>Loading</a:t>
            </a:r>
            <a:r>
              <a:rPr lang="hu-HU" sz="1200" b="1" dirty="0"/>
              <a:t> állapot</a:t>
            </a:r>
            <a:endParaRPr lang="hu-HU" sz="1200" dirty="0"/>
          </a:p>
          <a:p>
            <a:pPr lvl="1"/>
            <a:r>
              <a:rPr lang="hu-HU" sz="1200" dirty="0"/>
              <a:t>A router </a:t>
            </a:r>
            <a:r>
              <a:rPr lang="hu-HU" sz="1200" b="1" dirty="0"/>
              <a:t>LSR (Link-</a:t>
            </a:r>
            <a:r>
              <a:rPr lang="hu-HU" sz="1200" b="1" dirty="0" err="1"/>
              <a:t>State</a:t>
            </a:r>
            <a:r>
              <a:rPr lang="hu-HU" sz="1200" b="1" dirty="0"/>
              <a:t> </a:t>
            </a:r>
            <a:r>
              <a:rPr lang="hu-HU" sz="1200" b="1" dirty="0" err="1"/>
              <a:t>Request</a:t>
            </a:r>
            <a:r>
              <a:rPr lang="hu-HU" sz="1200" b="1" dirty="0"/>
              <a:t>)</a:t>
            </a:r>
            <a:r>
              <a:rPr lang="hu-HU" sz="1200" dirty="0"/>
              <a:t> üzenetekkel kéri a hiányzó vagy elavult LSA-kat.</a:t>
            </a:r>
          </a:p>
          <a:p>
            <a:pPr lvl="1"/>
            <a:r>
              <a:rPr lang="hu-HU" sz="1200" dirty="0"/>
              <a:t>A szomszéd </a:t>
            </a:r>
            <a:r>
              <a:rPr lang="hu-HU" sz="1200" b="1" dirty="0"/>
              <a:t>LSU (Link-</a:t>
            </a:r>
            <a:r>
              <a:rPr lang="hu-HU" sz="1200" b="1" dirty="0" err="1"/>
              <a:t>State</a:t>
            </a:r>
            <a:r>
              <a:rPr lang="hu-HU" sz="1200" b="1" dirty="0"/>
              <a:t> Update)</a:t>
            </a:r>
            <a:r>
              <a:rPr lang="hu-HU" sz="1200" dirty="0"/>
              <a:t> csomagokkal küldi a kért információkat.</a:t>
            </a:r>
          </a:p>
          <a:p>
            <a:r>
              <a:rPr lang="hu-HU" sz="1200" b="1" dirty="0" err="1"/>
              <a:t>Full</a:t>
            </a:r>
            <a:r>
              <a:rPr lang="hu-HU" sz="1200" b="1" dirty="0"/>
              <a:t> állapot</a:t>
            </a:r>
            <a:endParaRPr lang="hu-HU" sz="1200" dirty="0"/>
          </a:p>
          <a:p>
            <a:pPr lvl="1"/>
            <a:r>
              <a:rPr lang="hu-HU" sz="1200" dirty="0"/>
              <a:t>A LSDB-k </a:t>
            </a:r>
            <a:r>
              <a:rPr lang="hu-HU" sz="1200" b="1" dirty="0"/>
              <a:t>teljesen szinkronban vannak</a:t>
            </a:r>
            <a:r>
              <a:rPr lang="hu-HU" sz="1200" dirty="0"/>
              <a:t>.</a:t>
            </a:r>
          </a:p>
          <a:p>
            <a:pPr lvl="1"/>
            <a:r>
              <a:rPr lang="hu-HU" sz="1200" dirty="0"/>
              <a:t>A routerek készen állnak az </a:t>
            </a:r>
            <a:r>
              <a:rPr lang="hu-HU" sz="1200" b="1" dirty="0"/>
              <a:t>útvonalak számítására</a:t>
            </a:r>
            <a:r>
              <a:rPr lang="hu-HU" sz="1200" dirty="0"/>
              <a:t> (SPF algoritmus futtatása).</a:t>
            </a:r>
          </a:p>
          <a:p>
            <a:endParaRPr lang="hu-HU" sz="900" dirty="0"/>
          </a:p>
        </p:txBody>
      </p:sp>
    </p:spTree>
    <p:extLst>
      <p:ext uri="{BB962C8B-B14F-4D97-AF65-F5344CB8AC3E}">
        <p14:creationId xmlns:p14="http://schemas.microsoft.com/office/powerpoint/2010/main" val="3204946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83889D-7BF5-417D-A6C7-65BCCA8E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194" y="2728735"/>
            <a:ext cx="6873611" cy="1400530"/>
          </a:xfrm>
        </p:spPr>
        <p:txBody>
          <a:bodyPr/>
          <a:lstStyle/>
          <a:p>
            <a:r>
              <a:rPr lang="hu-HU" dirty="0">
                <a:latin typeface="Algerian" panose="04020705040A02060702" pitchFamily="82" charset="0"/>
              </a:rPr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1615703582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1001</Words>
  <Application>Microsoft Office PowerPoint</Application>
  <PresentationFormat>Szélesvásznú</PresentationFormat>
  <Paragraphs>114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Algerian</vt:lpstr>
      <vt:lpstr>Arial</vt:lpstr>
      <vt:lpstr>Bell MT</vt:lpstr>
      <vt:lpstr>Century Gothic</vt:lpstr>
      <vt:lpstr>Wingdings 3</vt:lpstr>
      <vt:lpstr>Ion</vt:lpstr>
      <vt:lpstr>OSPFv2        alapfogalmak</vt:lpstr>
      <vt:lpstr>PowerPoint-bemutató</vt:lpstr>
      <vt:lpstr>OSPF bemutatása</vt:lpstr>
      <vt:lpstr>Az OSPF csomagtípusok,üzenetek</vt:lpstr>
      <vt:lpstr>Az OSPF alkotórészei </vt:lpstr>
      <vt:lpstr>Egyterületű és többterületű OSPF</vt:lpstr>
      <vt:lpstr>OSPFv3</vt:lpstr>
      <vt:lpstr>OSPF-csomagtípusok</vt:lpstr>
      <vt:lpstr>OSPF állapotok</vt:lpstr>
      <vt:lpstr>Szomszédsági kapcsolatok kialakítása 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OSPFv2        alapfogalmak</dc:title>
  <dc:creator>Fb Fb</dc:creator>
  <cp:lastModifiedBy>Fb Fb</cp:lastModifiedBy>
  <cp:revision>7</cp:revision>
  <dcterms:created xsi:type="dcterms:W3CDTF">2025-10-12T19:05:16Z</dcterms:created>
  <dcterms:modified xsi:type="dcterms:W3CDTF">2025-10-12T20:33:24Z</dcterms:modified>
</cp:coreProperties>
</file>